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08e828bf2948bb" /><Relationship Type="http://schemas.openxmlformats.org/officeDocument/2006/relationships/extended-properties" Target="/docProps/app.xml" Id="Rc6decfaed2a046cb" /><Relationship Type="http://schemas.openxmlformats.org/officeDocument/2006/relationships/officeDocument" Target="/ppt/presentation.xml" Id="Ra81c15b51cde45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2c88e7634142fe"/>
  </p:sldMasterIdLst>
  <p:notesMasterIdLst>
    <p:notesMasterId xmlns:r="http://schemas.openxmlformats.org/officeDocument/2006/relationships" r:id="Rae98aed09b424b71"/>
  </p:notesMasterIdLst>
  <p:sldIdLst>
    <p:sldId xmlns:r="http://schemas.openxmlformats.org/officeDocument/2006/relationships" id="256" r:id="Rdefd71f996db4235"/>
    <p:sldId xmlns:r="http://schemas.openxmlformats.org/officeDocument/2006/relationships" id="257" r:id="R2308482bb410472e"/>
    <p:sldId xmlns:r="http://schemas.openxmlformats.org/officeDocument/2006/relationships" id="258" r:id="Re79bd5f593884d0a"/>
    <p:sldId xmlns:r="http://schemas.openxmlformats.org/officeDocument/2006/relationships" id="259" r:id="R995650fcaae44744"/>
    <p:sldId xmlns:r="http://schemas.openxmlformats.org/officeDocument/2006/relationships" id="260" r:id="R11368727f0df42a9"/>
    <p:sldId xmlns:r="http://schemas.openxmlformats.org/officeDocument/2006/relationships" id="261" r:id="R6b5f79bd80d1467e"/>
    <p:sldId xmlns:r="http://schemas.openxmlformats.org/officeDocument/2006/relationships" id="262" r:id="R052c58e444994ec4"/>
    <p:sldId xmlns:r="http://schemas.openxmlformats.org/officeDocument/2006/relationships" id="263" r:id="R04d73b402c934e69"/>
    <p:sldId xmlns:r="http://schemas.openxmlformats.org/officeDocument/2006/relationships" id="264" r:id="R6386d5088c9e4106"/>
    <p:sldId xmlns:r="http://schemas.openxmlformats.org/officeDocument/2006/relationships" id="265" r:id="Rb7026fbb53fa49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3aecaa1a8c4c3f" /><Relationship Type="http://schemas.openxmlformats.org/officeDocument/2006/relationships/slideMaster" Target="/ppt/slideMasters/slideMaster1.xml" Id="R1c2c88e7634142fe" /><Relationship Type="http://schemas.openxmlformats.org/officeDocument/2006/relationships/notesMaster" Target="/ppt/notesMasters/notesMaster1.xml" Id="Rae98aed09b424b71" /><Relationship Type="http://schemas.openxmlformats.org/officeDocument/2006/relationships/presProps" Target="/ppt/presProps.xml" Id="Rccfc5c65e9ce4186" /><Relationship Type="http://schemas.openxmlformats.org/officeDocument/2006/relationships/tableStyles" Target="/ppt/tableStyles.xml" Id="R806068f690bc4a34" /><Relationship Type="http://schemas.openxmlformats.org/officeDocument/2006/relationships/slide" Target="/ppt/slides/slide1.xml" Id="Rdefd71f996db4235" /><Relationship Type="http://schemas.openxmlformats.org/officeDocument/2006/relationships/slide" Target="/ppt/slides/slide2.xml" Id="R2308482bb410472e" /><Relationship Type="http://schemas.openxmlformats.org/officeDocument/2006/relationships/slide" Target="/ppt/slides/slide3.xml" Id="Re79bd5f593884d0a" /><Relationship Type="http://schemas.openxmlformats.org/officeDocument/2006/relationships/slide" Target="/ppt/slides/slide4.xml" Id="R995650fcaae44744" /><Relationship Type="http://schemas.openxmlformats.org/officeDocument/2006/relationships/slide" Target="/ppt/slides/slide5.xml" Id="R11368727f0df42a9" /><Relationship Type="http://schemas.openxmlformats.org/officeDocument/2006/relationships/slide" Target="/ppt/slides/slide6.xml" Id="R6b5f79bd80d1467e" /><Relationship Type="http://schemas.openxmlformats.org/officeDocument/2006/relationships/slide" Target="/ppt/slides/slide7.xml" Id="R052c58e444994ec4" /><Relationship Type="http://schemas.openxmlformats.org/officeDocument/2006/relationships/slide" Target="/ppt/slides/slide8.xml" Id="R04d73b402c934e69" /><Relationship Type="http://schemas.openxmlformats.org/officeDocument/2006/relationships/slide" Target="/ppt/slides/slide9.xml" Id="R6386d5088c9e4106" /><Relationship Type="http://schemas.openxmlformats.org/officeDocument/2006/relationships/slide" Target="/ppt/slides/slide10.xml" Id="Rb7026fbb53fa49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1f6efd573b42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cf115542884bb7" /><Relationship Type="http://schemas.openxmlformats.org/officeDocument/2006/relationships/notesMaster" Target="/ppt/notesMasters/notesMaster1.xml" Id="Rf387fda9862046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c8745894c2408f" /><Relationship Type="http://schemas.openxmlformats.org/officeDocument/2006/relationships/notesMaster" Target="/ppt/notesMasters/notesMaster1.xml" Id="R7d3a5c25dd2a41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8a8c9fdf374a2f" /><Relationship Type="http://schemas.openxmlformats.org/officeDocument/2006/relationships/notesMaster" Target="/ppt/notesMasters/notesMaster1.xml" Id="Rebbec664e95245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33bdbd9ba44328" /><Relationship Type="http://schemas.openxmlformats.org/officeDocument/2006/relationships/notesMaster" Target="/ppt/notesMasters/notesMaster1.xml" Id="R82e70c433dbf44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36af8159594078" /><Relationship Type="http://schemas.openxmlformats.org/officeDocument/2006/relationships/notesMaster" Target="/ppt/notesMasters/notesMaster1.xml" Id="R60d30c33d26c46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db88e58c094d1e" /><Relationship Type="http://schemas.openxmlformats.org/officeDocument/2006/relationships/notesMaster" Target="/ppt/notesMasters/notesMaster1.xml" Id="R8e672584a1634f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42da967eef40e7" /><Relationship Type="http://schemas.openxmlformats.org/officeDocument/2006/relationships/notesMaster" Target="/ppt/notesMasters/notesMaster1.xml" Id="R6cfb59f3778947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7b123724004116" /><Relationship Type="http://schemas.openxmlformats.org/officeDocument/2006/relationships/notesMaster" Target="/ppt/notesMasters/notesMaster1.xml" Id="R160b4562e9a84c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f2028d63a64670" /><Relationship Type="http://schemas.openxmlformats.org/officeDocument/2006/relationships/notesMaster" Target="/ppt/notesMasters/notesMaster1.xml" Id="Ra236cfa1353844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67f50d42f14412" /><Relationship Type="http://schemas.openxmlformats.org/officeDocument/2006/relationships/notesMaster" Target="/ppt/notesMasters/notesMaster1.xml" Id="Rbc1bda37073443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context/smart-office-context.md; design/smart-office-hld.md; poc/smart-office-poc-selection.md. Image is AI-generated illustrative art. This slide describes the proposed user experience and intended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context/smart-office-context.md, especially initial scale and workplace problems; review/findings-1.txt gap 4. All three numerical targets are proposal assumptions, not measured outcomes. Confirm baseline period, desk/parking denominator and pilot cohort with the client before contract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context/smart-office-context.md; design/smart-office-hld.md. The 5,000-user figure is a design floor, not an observed load-test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design/smart-office-hld.md. Azure, PostgreSQL versus Azure SQL, check-in provider and notification channel remain client decisions. The boxes show target architecture rather than current implementation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poc/smart-office-poc-selection.md; design/smart-office-hld.md. The PoC scope uses synthetic data and simulated identity, notification and check-in provider boundaries; real tenant and physical provider integration are full-delivery decisions. This slide describes intended scope and validation goals, not implementation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agentic-workflow/protocols/lifecycle.md; poc/smart-office-poc-selection.md; src/modules/booking; planning/tasks/TASK-09-release-engine.md; planning/tasks/TASK-11-notification-outbox.md. The sentence describes AI assistance across the selected PoC development scope and does not claim that all three features are complete. Engineers retain review and acceptance responsibility.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agentic-workflow/protocols/lifecycle.md; bid/agentic_sdlc_proposal_team_brief.md; design/smart-office-hld.md. These persistence, CI, observability and defect-feedback measures are proposed additions for full delivery, not observed current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projects/smart-office-phases-and-milestones.md; projects/smart-office-team-cost-estimate.md. Phase 5 overlaps phase 6. W1-W10 total is 151 PD and €120,800. W11-W26 total is 285 PD and €228,000.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projects/smart-office-team-cost-estimate.md; projects/smart-office-third-party-cost-estimate.md. Azure translated from USD 1,000-3,000 at 23 Sep 2026 Banque de France reference EUR 1 = USD 1.1411. Excludes tax. If first check-in provider needs hardware, private networking or new licenses, request quotes and reprice at W10. No ROI is asserted without a client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review/findings-1.txt; projects/smart-office-risks-and-assumptions.md; design/smart-office-hld.md; bid/client-inputs-and-dependencies.md. Release and notification evidence and vendor costs require confirmation before commitment.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360e4ad2cd40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6816cbf8d94649" /><Relationship Type="http://schemas.openxmlformats.org/officeDocument/2006/relationships/slideLayout" Target="/ppt/slideLayouts/slideLayout1.xml" Id="Rb7dc819a879f47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dc819a879f47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8db11e4024aa5" /><Relationship Type="http://schemas.openxmlformats.org/officeDocument/2006/relationships/image" Target="/ppt/media/image.png" Id="R130d7d44f9334fcf" /><Relationship Type="http://schemas.openxmlformats.org/officeDocument/2006/relationships/notesSlide" Target="/ppt/notesSlides/notesSlide1.xml" Id="R46eabc8aa40647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32b910bba4560" /><Relationship Type="http://schemas.openxmlformats.org/officeDocument/2006/relationships/notesSlide" Target="/ppt/notesSlides/notesSlide2.xml" Id="R2772c195f31c48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89aa2a60e4088" /><Relationship Type="http://schemas.openxmlformats.org/officeDocument/2006/relationships/notesSlide" Target="/ppt/notesSlides/notesSlide3.xml" Id="Rf1be45791df64e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f6fb2c77944ed" /><Relationship Type="http://schemas.openxmlformats.org/officeDocument/2006/relationships/notesSlide" Target="/ppt/notesSlides/notesSlide4.xml" Id="R876c1ebf40d243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5876d41bb444e" /><Relationship Type="http://schemas.openxmlformats.org/officeDocument/2006/relationships/notesSlide" Target="/ppt/notesSlides/notesSlide5.xml" Id="R49f9f75b356547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384605d214d2c" /><Relationship Type="http://schemas.openxmlformats.org/officeDocument/2006/relationships/notesSlide" Target="/ppt/notesSlides/notesSlide6.xml" Id="R036bc551725045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fca490e11430d" /><Relationship Type="http://schemas.openxmlformats.org/officeDocument/2006/relationships/notesSlide" Target="/ppt/notesSlides/notesSlide7.xml" Id="R0a48472ce1dc44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7e2a8ab6e49a3" /><Relationship Type="http://schemas.openxmlformats.org/officeDocument/2006/relationships/notesSlide" Target="/ppt/notesSlides/notesSlide8.xml" Id="Rf8d942e0012b48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e82567c9b403f" /><Relationship Type="http://schemas.openxmlformats.org/officeDocument/2006/relationships/notesSlide" Target="/ppt/notesSlides/notesSlide9.xml" Id="Rf7dd4378ffb14f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2beacd2e84c86" /><Relationship Type="http://schemas.openxmlformats.org/officeDocument/2006/relationships/notesSlide" Target="/ppt/notesSlides/notesSlide10.xml" Id="R2d95036da3db4f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d7d44f9334fcf"/>
          <a:srcRect xmlns:a="http://schemas.openxmlformats.org/drawingml/2006/main" l="15607" t="0" r="156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0"/>
            <a:ext cx="838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323F4-FCD0-468F-8B10-B1627C17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7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A49C8-7628-4D69-9C33-88EAC4E9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9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7743C-2EC9-4C02-A97A-1ABE4AC8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8B151-A663-4152-BB1C-333CB5BF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Office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1487A-7255-48B1-8E14-A15C7067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4591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simple way to plan office days and make better use of shared space.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D2768-C831-4841-9D95-2DB053E0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A9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7A9A0"/>
                </a:solidFill>
                <a:latin typeface="Arial"/>
                <a:ea typeface="Arial"/>
                <a:cs typeface="Arial"/>
              </a:rPr>
              <a:t>A better office 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E9F75-E503-499E-A702-523D6185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86225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Employees can find and reserve the right desk or parking space before they arrive.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1206E-340B-4C57-AAA9-B9B7EAD1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58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Workplace teams can return unused bookings to colleagues and see how the office is used.</a:t>
            </a:r>
          </a:p>
        </p:txBody>
      </p:sp>
    </p:spTree>
    <p:extLst>
      <p:ext uri="{BB962C8B-B14F-4D97-AF65-F5344CB8AC3E}">
        <p14:creationId xmlns:p14="http://schemas.microsoft.com/office/powerpoint/2010/main" val="1543593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07C97-DD01-4EA6-B4B3-1E32706D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0DF52-4DC7-4D1E-AD1A-7F446BA5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Client challenge and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4860D-7895-4135-8748-60AF4307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Initial office: about 200 employees. Proposed targets need client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5F967-C00E-4D78-85E0-52105FD0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F8BBE-27BD-4D10-9DAD-20D9F3E5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EBE96-72D0-484D-93C5-D5AE2111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252AC-BE4C-4187-8DA8-37F7BC78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Unused bookings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38DE6-FD43-406A-8755-C4C1B95C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62125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Baseline: booked resources unused after deadline. Proposed goal: 20% fewer unclaimed desk and parking days by month 3 of pilot.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C0A27-0806-4EF1-BF3A-0EA3ACA8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BB30C-D1B7-4816-9827-AEF27AEC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Booking speed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25B34-E25D-42A6-9E8C-50680E8D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Baseline: median time from search to confirmation. Proposed goal: 60 seconds or less for a standard reservation.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92931-F022-48DA-83BD-46CBAA27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18278-6206-4B16-968D-A9A792FE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Operational effort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A6BA9-59C6-40C8-AF23-294564C8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00475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Baseline: manual time spent resolving no-shows and conflicts. Proposed goal: 25% less weekly handling 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B5173-934E-4858-92E1-8B7970B4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EA04FD-F564-46BD-AF5A-18237210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3B40A-54D8-4919-A339-26E00932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1062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Compare booking, check-in and release logs with a four-week baseline; time representative user tasks; record facilities effort weekly.</a:t>
            </a:r>
          </a:p>
        </p:txBody>
      </p:sp>
    </p:spTree>
    <p:extLst>
      <p:ext uri="{BB962C8B-B14F-4D97-AF65-F5344CB8AC3E}">
        <p14:creationId xmlns:p14="http://schemas.microsoft.com/office/powerpoint/2010/main" val="2647025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1352A2-633F-434F-8087-4FBC650B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99FB9-9DD1-475E-8B6F-B19E801D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Proposed full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3CB0B-5096-4E79-88DC-F6A16FC7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One employee journey, with clear rules for workplace administrators.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CE224-18E5-4E8C-AD6F-F0D9827E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37178-C58F-4C87-8B19-9FA6B029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76FB6-CE54-49AA-B67A-FDBE8BFE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6559F-A0C1-480D-B0DD-540DEE81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1216A-793E-4BEC-8050-51CD3E6B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AA86A-1660-4773-83AC-F926B081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333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Find available desks or parking for a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897EE-D372-4A8D-A5EC-E672972D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95525"/>
            <a:ext cx="21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DFDFA-20EB-4288-ABD1-810CE50D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050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Reserve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CAF55-E49C-49A2-BCFB-14DED2B1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28900"/>
            <a:ext cx="2333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One booking per resource type per 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0C021-3FD8-4A6B-A609-2687DE7F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95525"/>
            <a:ext cx="21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B7079-99DF-4CED-9C91-76E16224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050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B9171-E990-4230-BE3C-B34C4862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28900"/>
            <a:ext cx="2333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Use the app or approved provider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C7081-FCE7-4FF2-8401-97AE5738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95525"/>
            <a:ext cx="21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556C6-A999-49A0-B49B-5C240654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050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Stay informed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2A5AD-E7B1-498B-A2A5-CC4319EE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2333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Receive booking, reminder and release notices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3B975C-6DB3-438B-BE8F-15969BF7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546C13-DDA7-43A5-A0CF-011AEDA2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WORKPLACE ADMINISTRATION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C72B4-A146-4664-B984-E0BB2D3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3D"/>
                </a:solidFill>
                <a:latin typeface="Arial"/>
                <a:ea typeface="Arial"/>
                <a:cs typeface="Arial"/>
              </a:rPr>
              <a:t>Manage resources and local policies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A484EF-E83B-4DB3-BBB7-02CBB32A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3D"/>
                </a:solidFill>
                <a:latin typeface="Arial"/>
                <a:ea typeface="Arial"/>
                <a:cs typeface="Arial"/>
              </a:rPr>
              <a:t>Review exceptions with reason and audit trail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66250-B810-4791-B514-80D1CB20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76750"/>
            <a:ext cx="328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3D"/>
                </a:solidFill>
                <a:latin typeface="Arial"/>
                <a:ea typeface="Arial"/>
                <a:cs typeface="Arial"/>
              </a:rPr>
              <a:t>See utilization, no-shows and released capacity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FD09DC-A21D-473F-8F62-C0EB0E14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Architecture supports additional offices and at least 5,000 users after load validation.</a:t>
            </a:r>
          </a:p>
        </p:txBody>
      </p:sp>
    </p:spTree>
    <p:extLst>
      <p:ext uri="{BB962C8B-B14F-4D97-AF65-F5344CB8AC3E}">
        <p14:creationId xmlns:p14="http://schemas.microsoft.com/office/powerpoint/2010/main" val="16737849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E305F2-3FF1-4A16-8F40-40091B95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4575D-971E-45AF-8598-FCB14E35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Architecture for full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F5A57-C1F4-466B-8452-97E674E3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A modular monolith protects booking consistency and keeps providers replaceable.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21E80-99AB-4FBF-9661-A438889A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382EF-2DB9-4108-9A10-7421645B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D4A41-A50F-4ABF-AFAB-89312228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89C52-23CC-4C00-A39C-3A0DBAB2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286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368B8-2876-4A17-BB78-253C1922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73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Employee + admin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2EA92-BCD4-4A35-8507-6A81A280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198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Responsive web 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5B040-5DF0-4359-8AD1-8B36222A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286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9F585-FF2E-4361-AA24-960D4BFE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Check-in providers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6910A-7790-409F-B58C-743F9D76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198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Authenticated ingress and adapters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62BD3-7507-4CFD-9F57-A7D4BBEC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62125"/>
            <a:ext cx="4381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99B06-C8F8-4890-BFDD-B2AEE02B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9547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Smart Office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F165D-B73B-429D-84AE-583B7E31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76475"/>
            <a:ext cx="40767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Booking and resource policy</a:t>
            </a:r>
          </a:p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Check-in gateway and release engine</a:t>
            </a:r>
          </a:p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Notification outbox and audit</a:t>
            </a:r>
          </a:p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Office scope and 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07863-4EDD-4E6F-B054-7ACBED91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62125"/>
            <a:ext cx="2286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CE3B3-89B9-4803-9F15-6C2557BC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89547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Relational 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05B2E-9403-4CC7-B865-0BF00B5D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76475"/>
            <a:ext cx="198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Constraints, state and outbox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49682-C135-42CA-BA2B-721133FB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19500"/>
            <a:ext cx="2286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A047D4-CD69-4D6B-A5C1-725708FB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7528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Managed queue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9B587-700A-48B8-91A7-E9258C26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133850"/>
            <a:ext cx="198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Retryable check-in events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745AC2-4C3A-4E28-B758-271AC3C3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288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73A203-4DED-49FA-9701-F4839122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767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532D37-9AA2-4755-B281-317D32B3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2887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23FDD2-B0EB-476C-B588-6D04A847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7672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4C11A-4D05-442D-8ABF-E8943414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Entra ID for identity; Microsoft Graph for Teams or email after client choice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C11434-3611-42A6-A9B1-9ACEE245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Server authorization, minimum data, audit, security checks, backups and monitored release jobs</a:t>
            </a:r>
          </a:p>
        </p:txBody>
      </p:sp>
    </p:spTree>
    <p:extLst>
      <p:ext uri="{BB962C8B-B14F-4D97-AF65-F5344CB8AC3E}">
        <p14:creationId xmlns:p14="http://schemas.microsoft.com/office/powerpoint/2010/main" val="807376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B5905-23CB-4C53-92A7-38801D2A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A1E43-9E3E-432C-B9B1-808600E4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PoC scope and validation goals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485F9-D8AE-4823-B59C-53392BC3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Three selected capabilities cover the core workplace journey and its main technical risks.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86186-330F-4A42-A155-638E057F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A4171-12A3-4A77-8D9A-65EEADEA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75C1A-60C8-42D0-94F2-28D53CF2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DBFD3-4663-46AE-84FC-83216753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C1  Booking creation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F5322-403D-40E6-BDC9-9EE767E6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3A848-1B1C-4E5A-81FC-4EE3AB39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2385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Employees reserve a desk or parking space. Database constraints prevent overlapping resource bookings and daily-limit conflicts.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AB2BC-890B-4E27-B741-EFAC3640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323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Validates transaction safety and clear conflict feedback.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3B1BB-D73C-4C5B-97AB-EE67365E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478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C2  Automatic 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E87B7-6FA5-4D5C-A2D2-0CB70C6F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03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DAAE4-62A4-4991-9767-34094B32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32385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Arrival evidence comes from the app or a simulated provider. A missed local deadline releases unused capacity for another employee.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1C737-D325-4126-BF7A-5D3FFFA5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86275"/>
            <a:ext cx="323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Validates time-zone policy, duplicate events and safe repeat release.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9B7AE-1EAF-493B-A7D0-24C6266B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C3  Notifications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314CC-9DD6-4AE7-A28B-67CB2722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A28BA-D55F-41EE-B18B-40BEA420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32385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Confirmation, reminder and release messages are recorded as durable intents, then delivered through a replaceable channel adapter.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E7E40-4375-4C4E-8EF6-C36976B5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86275"/>
            <a:ext cx="323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Validates reliable dispatch, retries and channel independence.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7937E-B443-4F9F-B6A6-BB6ACCBF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6EF97-90BF-4E6E-839F-07C23B87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Demonstration 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E3EEA-B3CB-4CB2-A00C-98B30045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762625"/>
            <a:ext cx="812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Reserve  →  no arrival  →  release  →  availability returns  →  notice queued</a:t>
            </a:r>
          </a:p>
        </p:txBody>
      </p:sp>
    </p:spTree>
    <p:extLst>
      <p:ext uri="{BB962C8B-B14F-4D97-AF65-F5344CB8AC3E}">
        <p14:creationId xmlns:p14="http://schemas.microsoft.com/office/powerpoint/2010/main" val="17312134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48AC79-EBDA-4FE0-A18C-D3C6AF38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E2587-FDFE-4BAB-BA55-1DDC3E2C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How we deliver with AI assistance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C49A4-AC06-4139-ADF7-CADAFC64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People guide key decisions while AI assistants support focused delivery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E5403-45D1-4415-A50A-4DC8FF98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0A6F6-9C7E-4783-95A3-0835DD2A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3C775-ECD4-4971-BDDD-0B61C511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3D70E-9C02-4430-92B8-99407CDA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BB5E7-77DD-4D56-825E-15BD9EF0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Understand needs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98031-A793-47CA-8F7B-76632444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90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Client priorities and office rules guide each piece of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B9D9D-5FCB-4C43-9E4F-5EB6FA0C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76425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6D77F-D869-4D92-93E0-D69A1BA9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431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Agree the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61188-DA12-4CCA-9D9B-ACF19648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190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 team lead confirms scope and approach before work begins.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3E43D-27A3-4695-93AB-95CC16ED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76425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11B87-AF23-45F1-AFE5-4EFB4A9D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431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Build in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13E48-4AB8-4AC2-A594-973F3B7E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48000"/>
            <a:ext cx="190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AI assistants help engineers create focused changes.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24052-4667-4226-8336-BD8EAE89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76425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F1C59D-A457-4A50-ACE0-869DAC8A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431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Check 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CD3EB-DEE3-4CE6-98FC-902EE436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48000"/>
            <a:ext cx="190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Engineers review the work alongside automated checks.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6DB105-4AA0-49CE-97EC-256F6279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76425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E932B-097D-4D1B-B920-80378834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431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Accept the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01667-3304-484B-ADB5-8276E1B3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48000"/>
            <a:ext cx="190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Client and team owners decide when the outcome is ready.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43A2B-BA4E-4BC9-82D6-585DEFF8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BB1D0-59ED-4744-A7C8-102527DB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1038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Our team uses AI assistance to develop the three PoC features: booking, automatic release and employee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1991833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2739C-AE8A-44DA-9506-8AADC06B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84D93-D3B9-4FB8-80E4-C73E6729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Agentic SDLC for full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1563B-078B-449C-A964-02071807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A clear path from agreed needs to a dependable service, with people accountable at every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191E8-7C6E-4909-BB61-21B342FE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8D3DC-75F2-4A85-BA58-77AE7639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766B2-D919-45B9-A668-5D01B3A1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4A330-FD21-4751-8BC0-71D0FB24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66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6823C-7BCA-405C-B8DC-26C104E3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43075"/>
            <a:ext cx="2905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Before implementation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5860C-F50F-48E1-ACFC-FA37B8D7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43075"/>
            <a:ext cx="6762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Work with client owners to confirm priorities and office rules, then agree the plan before development starts.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944EB-262C-4A14-8F81-F74EF475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16039-85D5-42D1-9316-C70D639D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6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C58BB-1C7C-4782-9BC7-CED170D1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05100"/>
            <a:ext cx="2905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During 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29290-4EDB-44F0-AEDE-DC10865D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05100"/>
            <a:ext cx="6762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Our team builds the agreed features in manageable steps, reviews each change and checks that it works safely for employees.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C020A-BA21-4FC2-9C11-D610BC03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2723A-D73C-40D0-92FB-1B0652CE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66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0A257-5E1E-403A-A47F-96442AEB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67125"/>
            <a:ext cx="2905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Before release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58509-914D-4497-9770-02413C50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67125"/>
            <a:ext cx="6762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We resolve remaining issues, confirm the solution meets the agreed goals and ask the client owner to approve the release.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C2F48-1EC7-4B69-8038-444028DD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B983A-C076-42CA-AB94-FE2FE854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66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723BA-4B2B-42A9-8204-758CDF08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629150"/>
            <a:ext cx="2905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In 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786D4-EA71-4DDB-86F4-5070D4B2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29150"/>
            <a:ext cx="6762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Monitor jobs, defects and data quality. Feed incidents and failed agent evaluations into rules and regression cases.</a:t>
            </a:r>
          </a:p>
        </p:txBody>
      </p:sp>
    </p:spTree>
    <p:extLst>
      <p:ext uri="{BB962C8B-B14F-4D97-AF65-F5344CB8AC3E}">
        <p14:creationId xmlns:p14="http://schemas.microsoft.com/office/powerpoint/2010/main" val="7410809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D6626-7EFD-42A7-BFD9-D967C416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08FC9-2A0C-40E7-B3A9-6EC2E25D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Roadmap and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E324B-49A4-45C9-B8D6-100338E2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Each gate releases value and limits commitment before the next stage.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3C827-C03E-4973-8E0D-714F01F5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38565-D060-41D9-9532-1B63800F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C3BEA-F927-46FF-9FB1-B3EDA890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2AF8D-59B4-4B72-AC08-E7074DF3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W1–W2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42F3A-EED5-4432-BDCF-AE709EC5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Decisions and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D813B-7E01-4662-9076-96F2925C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2524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32 PD · €25,600</a:t>
            </a:r>
          </a:p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Policy, provider and baseline decisions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606CE-1F1E-4861-996B-994D7F86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4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52C49-F226-4815-851A-200E7E87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19275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W3–W10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A508A-C27F-4E57-B33E-544CF68A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38375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Client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DF654-3CEC-45DD-A38E-19A63D26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62275"/>
            <a:ext cx="2524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119 PD · €95,200</a:t>
            </a:r>
          </a:p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Complete C1–C3 proof and client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6CA87-DBC9-4B0C-B468-04D89720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4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8C4478-A4D3-42B9-9242-9B190CA9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19275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W11–W23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6E3B3-26EF-40BB-989D-59BA64FE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38375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Production 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5AC80-E0AC-4A6C-83F6-877D1384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2275"/>
            <a:ext cx="2524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215 PD · €172,000</a:t>
            </a:r>
          </a:p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Identity, admin and integrations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5245A-DFD6-448F-A39F-3569A423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523162-85B0-465F-ACE3-9A23E932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192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W21–W26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AB931-3965-440B-AFFC-A393E3D2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Release and handover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4ED36-BEE6-4FEB-A3A1-2B1679FD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62275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70 PD · €56,000</a:t>
            </a:r>
          </a:p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Load, recovery and adoption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019C03-9A45-41B6-9863-B303AD51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24350"/>
            <a:ext cx="2143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E38472-C963-46CD-8475-303DC383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W10 continuation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BD3AF-041A-4F67-9089-0EDCFF01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Proceed after three-function evidence, agreed metrics and integration quotes; reprice the remaining 285 PD if scope changes.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27F54D-391A-468E-8315-807548A6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Team: principal cloud architect; senior-led backend; senior frontend, platform, QA, UX, security and delivery lead. Client owners join decisions and acceptance.</a:t>
            </a:r>
          </a:p>
        </p:txBody>
      </p:sp>
    </p:spTree>
    <p:extLst>
      <p:ext uri="{BB962C8B-B14F-4D97-AF65-F5344CB8AC3E}">
        <p14:creationId xmlns:p14="http://schemas.microsoft.com/office/powerpoint/2010/main" val="825758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9D4E0D-8C92-4593-95DA-2A15085B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03C60-8B0E-4158-8CB3-272C0AB3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Commercial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5C814-B92B-470E-B3F9-DF4E86A4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26 weeks, 436 person-days, with a flat planning rate of €800 per PD.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41488-A89B-4357-AB9E-06F9AAF5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65B57-0619-49BD-A2B1-EA9DD079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E90B4-70E8-4A2E-9E38-68B4DFE6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F281A-6D1F-4F19-BF04-18492D22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667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Team delivery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866F2-467A-4390-8AC8-BD269F7C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436 PD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7A639-6FB5-4F96-B110-20DDC136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590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€348,800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D62DB-3E7B-4C24-8F28-5FA81C9E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EF7B7-34E0-43AF-9F64-90608D77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3667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Team reserve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A2485-2D27-44BE-9573-1BFF1B8A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14575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20% labor allowance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F5A26-3319-4AE6-B154-DFAC3BD0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14575"/>
            <a:ext cx="3590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€69,760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58212-A205-48BE-8FC8-D78E9343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FDC65-B0CD-4522-A9A3-410A1E5E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667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Team budget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E6FA0-430B-46AB-A191-A4A11630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Delivery plus reserve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27FF7-686A-4B07-9225-74887FE3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3590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€418,560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56C83-9B46-4048-B6B7-292EE6CA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45FCBE-D21E-4E75-B8DC-1235E287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3667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Azure third party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B8FCD1-E0C6-4E5D-991A-400B49C1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90925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26-week estimate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AEADE-5BE3-43F4-93E2-7E6774DB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90925"/>
            <a:ext cx="3590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€876–€2,629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BAB828-21F4-4542-A244-010A517D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EECF1-EEA7-4B85-959C-F785BB0C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667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Priced items total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D9BD9-BF8F-47E7-904B-BFF0197D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Team budget plus Azure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6469C3-5E60-436D-AFE2-F301AC87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29100"/>
            <a:ext cx="3590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€419,436–€421,189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D25210-A909-4080-9C80-A7BCED0B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034C8D-0571-4A56-AAFD-D66E6E82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620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Other third-party costs require quotes: agent tools, any extra Microsoft licenses, the real check-in vendor and optional enterprise network or support.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F11F21-147E-409B-B15A-FED9F2A4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62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For 200 employees, value depends on verified capacity savings and future office reuse. This range covers priced items only; it is not an all-in ceiling.</a:t>
            </a:r>
          </a:p>
        </p:txBody>
      </p:sp>
    </p:spTree>
    <p:extLst>
      <p:ext uri="{BB962C8B-B14F-4D97-AF65-F5344CB8AC3E}">
        <p14:creationId xmlns:p14="http://schemas.microsoft.com/office/powerpoint/2010/main" val="17495489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3657F3-B542-418D-AEA5-4B66F6F6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DBEA9-772D-439A-8144-6B3AF405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Risks, assumptions and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7D2F1-EAD2-4AFD-99FD-519F7A35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A client decision at week 10 controls the full-delivery commitment.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55D7E-7F97-4D08-A152-FB4D95B4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92546-9177-4FAE-B338-3FE2EBA4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C7BCD-1EB2-4D11-B98F-7BA36F76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464C5-2760-41A2-8C72-2B8A659D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Usage and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7DCC6-55B9-4A0C-8761-323BA622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Confirm baseline demand, no-show rate and target economics for the first 200 employees.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80444-08BA-45FD-BF18-1E18AF6C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9FD3D-522F-48DF-B153-7E94E3CC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Integration choice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10AB4-A747-4D14-A1E8-BCCF3301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Select first check-in provider and notice channel; obtain vendor and license quotes.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1E027-5B39-4DB4-AFF1-EA785D6A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E0CA7-3BC4-4E0D-82D9-7C47CA45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Service level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4875F-A61B-4FF5-A3FD-4A13EC42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Approve cloud, retention, security, peak load and recovery requirements before sizing.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F83C3-0505-43D6-A02D-81227B6A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7BC64-51DE-4AB8-AD09-7145B494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PoC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1FED9-8C2A-4555-82AE-9C8835A4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Complete the release and outbox work; demonstrate the full no-show journey and record results.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93263-3DDD-44A4-9639-5FC5E385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C5E5E4-9AF2-4401-8645-2C40E780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338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Recommended next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A3CF53-6832-44AA-B50D-C72239C6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38775"/>
            <a:ext cx="733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Agree a joint kickoff and W10 acceptance plan. Commit production scope after verified C1–C3 results and a revised total cost.</a:t>
            </a:r>
          </a:p>
        </p:txBody>
      </p:sp>
    </p:spTree>
    <p:extLst>
      <p:ext uri="{BB962C8B-B14F-4D97-AF65-F5344CB8AC3E}">
        <p14:creationId xmlns:p14="http://schemas.microsoft.com/office/powerpoint/2010/main" val="502715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2026-09-25T08:38:36.2000000Z</dcterms:created>
  <dcterms:modified xsi:type="dcterms:W3CDTF">2026-09-25T08:38:36.2000000Z</dcterms:modified>
</coreProperties>
</file>