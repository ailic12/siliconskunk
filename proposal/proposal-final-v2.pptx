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84"/>
  </p:normalViewPr>
  <p:slideViewPr>
    <p:cSldViewPr snapToGrid="0">
      <p:cViewPr varScale="1">
        <p:scale>
          <a:sx n="114" d="100"/>
          <a:sy n="114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context/smart-office-context.md; design/smart-office-hld.md; poc/smart-office-poc-selection.md; projects/smart-office-ai-assisted-consolidated-role-assessment.md. Image is AI-generated illustrative art. AI assistants support development of the three selected PoC capabilities. Engineers review the resulting work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context/smart-office-context.md, especially initial scale and workplace problems; review/findings-1.txt gap 4. All three numerical targets are proposal assumptions, not measured outcomes. Confirm baseline period, desk/parking denominator and pilot cohort with the client before contract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context/smart-office-context.md §§4, 6, 8 and 9; design/smart-office-hld.md §§2, 3, 5, 7, 8 and 10. This slide describes the proposed full solution, not the current PoC scope. Initial check-in method and notification channel remain client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design/smart-office-hld.md. Azure, PostgreSQL versus Azure SQL, check-in provider and notification channel remain client decisions. The boxes show target architecture rather than current implementation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poc/smart-office-poc-selection.md; design/smart-office-hld.md. The PoC scope uses synthetic data and simulated identity, notification and check-in provider boundaries; real tenant and physical provider integration are full-delivery decisions. This slide describes intended scope and validation goals, not implementation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agentic-workflow/protocols/lifecycle.md; bid/agentic_sdlc_proposal_team_brief.md; design/smart-office-hld.md. This combines the present delivery approach with the proposed full-delivery lifecycle. AI assistance supports bounded work while named people retain planning, review, acceptance and operating accountability. No productivity uplift is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review/findings-1.txt; projects/smart-office-risks-and-assumptions.md; design/smart-office-hld.md; bid/client-inputs-and-dependencies.md. Release and notification evidence and vendor costs require confirmation before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projects/smart-office-ai-assisted-consolidated-role-assessment.md. Phases 0–3 total 135 PD and €108,000; phases 4–6 total 254 PD and €203,200. Phase weeks overlap. W10 and W26 are planning targets subject to capacity and client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projects/smart-office-ai-assisted-consolidated-role-assessment.md. This alternative staffing scenario combines architect and delivery lead in one person (58 PD) and assigns part-time QA 44 PD. The 389-PD baseline averages about 3.0 delivery FTE over 26 weeks. Engineers still review AI-generated work; client owners retain acceptance and production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projects/smart-office-ai-assisted-consolidated-role-assessment.md; projects/smart-office-third-party-cost-estimate.md. The 389-PD working baseline is €311,200 at €800/PD. Azure remains €876–€2,629, giving a priced-items total of €312,076–€313,829. Excludes tax. Unquoted third-party costs are outside the priced-items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15607" r="15607"/>
          <a:stretch>
            <a:fillRect/>
          </a:stretch>
        </p:blipFill>
        <p:spPr>
          <a:xfrm>
            <a:off x="3810000" y="0"/>
            <a:ext cx="838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C0D6CB-8E99-4B76-8460-9211BBB1C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572125" cy="6858000"/>
          </a:xfrm>
          <a:prstGeom prst="rect">
            <a:avLst/>
          </a:prstGeom>
          <a:solidFill>
            <a:srgbClr val="102B3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AE9454-5DB0-4975-8B9D-6BE21DC809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47A9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A8FBE-B7E6-4929-9D13-DDF1020569FE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4667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57372-2B49-4434-84E5-7B888B47E610}"/>
              </a:ext>
            </a:extLst>
          </p:cNvPr>
          <p:cNvSpPr>
            <a:spLocks noGrp="1"/>
          </p:cNvSpPr>
          <p:nvPr/>
        </p:nvSpPr>
        <p:spPr>
          <a:xfrm>
            <a:off x="590550" y="1257300"/>
            <a:ext cx="4667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Office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F1A99D-92A7-4F89-8A1B-DA026EC9B01A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4591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office serves about 200 employees with 150 desks and 30 parking spaces. Some bookings go unused.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31F41A-0B77-4287-929E-3297EF402B45}"/>
              </a:ext>
            </a:extLst>
          </p:cNvPr>
          <p:cNvSpPr>
            <a:spLocks noGrp="1"/>
          </p:cNvSpPr>
          <p:nvPr/>
        </p:nvSpPr>
        <p:spPr>
          <a:xfrm>
            <a:off x="590550" y="371475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47A9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A9A0"/>
                </a:solidFill>
                <a:latin typeface="Arial"/>
                <a:ea typeface="Arial"/>
                <a:cs typeface="Arial"/>
              </a:rPr>
              <a:t>The proposal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51299-BD83-40FA-9056-FF5EA10597D1}"/>
              </a:ext>
            </a:extLst>
          </p:cNvPr>
          <p:cNvSpPr>
            <a:spLocks noGrp="1"/>
          </p:cNvSpPr>
          <p:nvPr/>
        </p:nvSpPr>
        <p:spPr>
          <a:xfrm>
            <a:off x="590550" y="4086225"/>
            <a:ext cx="4524375" cy="11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Booking, check-in and automatic release free unused space. A 10-week proof tests the core. AI assistants help build</a:t>
            </a:r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the solution. 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hree PoC capabilities</a:t>
            </a:r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already available.</a:t>
            </a:r>
            <a:endParaRPr sz="16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0E3E6-6544-43EC-827B-8B3B5AE54901}"/>
              </a:ext>
            </a:extLst>
          </p:cNvPr>
          <p:cNvSpPr>
            <a:spLocks noGrp="1"/>
          </p:cNvSpPr>
          <p:nvPr/>
        </p:nvSpPr>
        <p:spPr>
          <a:xfrm>
            <a:off x="590550" y="5290000"/>
            <a:ext cx="4524375" cy="11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98580"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 weeks, 389 person-days. Priced items total €313,829; other costs need quotes.</a:t>
            </a:r>
          </a:p>
        </p:txBody>
      </p:sp>
    </p:spTree>
    <p:extLst>
      <p:ext uri="{BB962C8B-B14F-4D97-AF65-F5344CB8AC3E}">
        <p14:creationId xmlns:p14="http://schemas.microsoft.com/office/powerpoint/2010/main" val="214261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211ECA6-3900-445F-B4FF-FED40BBE0D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AC7F6-1A4D-4DB7-BB08-CED2664B969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challenge and success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6F1EC-3475-4B06-97EF-3EE40DF31B3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Initial office: about 200 employees. Proposed targets need client validation.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475E6C-EAEF-48AF-9C9A-BCAA36FD41AD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2042F-1950-4D32-9E61-CBEA73EBA0B3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3B09E-BEB4-4A8D-9D96-FDF7FFE3AB73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43C09D-DA49-4390-AC6E-5B78B267EC8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Unused bookings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A97B4A-5097-496B-ADDE-7418882D2566}"/>
              </a:ext>
            </a:extLst>
          </p:cNvPr>
          <p:cNvSpPr>
            <a:spLocks noGrp="1"/>
          </p:cNvSpPr>
          <p:nvPr/>
        </p:nvSpPr>
        <p:spPr>
          <a:xfrm>
            <a:off x="3714750" y="1762125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booked resources unused after deadline. Proposed goal: 20% fewer unclaimed desk and parking days by month 3 of pilot.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3B005-D848-48A1-AAC7-4798217E00C7}"/>
              </a:ext>
            </a:extLst>
          </p:cNvPr>
          <p:cNvSpPr>
            <a:spLocks noGrp="1"/>
          </p:cNvSpPr>
          <p:nvPr/>
        </p:nvSpPr>
        <p:spPr>
          <a:xfrm>
            <a:off x="685800" y="250507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9807B-63D0-43A8-A906-A14386FE89DA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Booking speed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68C88-14AB-45E1-9226-77DF4BCA7125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median time from search to confirmation. Proposed goal: 60 seconds or less for a standard reservation.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A0C5E5-0CFF-4843-BB02-4F629932522E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BC867-C815-4EF6-8822-8806E4D9CD1C}"/>
              </a:ext>
            </a:extLst>
          </p:cNvPr>
          <p:cNvSpPr>
            <a:spLocks noGrp="1"/>
          </p:cNvSpPr>
          <p:nvPr/>
        </p:nvSpPr>
        <p:spPr>
          <a:xfrm>
            <a:off x="685800" y="38004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Operational effort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8C9653-84E4-4DEE-8293-A2D39C4F4D46}"/>
              </a:ext>
            </a:extLst>
          </p:cNvPr>
          <p:cNvSpPr>
            <a:spLocks noGrp="1"/>
          </p:cNvSpPr>
          <p:nvPr/>
        </p:nvSpPr>
        <p:spPr>
          <a:xfrm>
            <a:off x="3714750" y="3800475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manual time spent resolving no-shows and conflicts. Proposed goal: 25% less weekly handling time.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9AE904-4FBC-4899-9E85-9BFF02C9378F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5A46B9-59BB-4EBE-849F-8B8F7727E2C8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82F202-519A-4B83-9752-07853A993369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1062037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Compare booking, check-in and release logs with a four-week baseline; time representative user tasks; record facilities effort weekly.</a:t>
            </a:r>
          </a:p>
        </p:txBody>
      </p:sp>
    </p:spTree>
    <p:extLst>
      <p:ext uri="{BB962C8B-B14F-4D97-AF65-F5344CB8AC3E}">
        <p14:creationId xmlns:p14="http://schemas.microsoft.com/office/powerpoint/2010/main" val="113890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82355E-C118-4FBC-A9EE-3C0EC9F3DB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40F002-7B58-4117-BBEC-AF2402338D7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Solution concept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DCAB6-B3A2-4003-B854-10C302405744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User journeys, core capabilities and differentiators.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46DF9-8F1D-4D08-9A7A-A7AE74B767E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F410C-2B78-48CA-9693-A260D034805E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E52E22-B4BC-4EB1-8362-87BA4F0BBFD4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62F43-20AF-4B24-8D9F-04936EAC8F9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B9C03-4014-4561-B7EB-A3111AD7BE01}"/>
              </a:ext>
            </a:extLst>
          </p:cNvPr>
          <p:cNvSpPr>
            <a:spLocks noGrp="1"/>
          </p:cNvSpPr>
          <p:nvPr/>
        </p:nvSpPr>
        <p:spPr>
          <a:xfrm>
            <a:off x="685800" y="23526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booking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17A673-190E-4DA6-B2D1-B965AC2D90A1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9669E-282A-4B33-9F4A-96BE7C19A890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323850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sign in with corporate identity, search by date, then book or cancel a desk, parking space or both.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96298A-C1E9-48CA-AEA5-A7D4E7B39641}"/>
              </a:ext>
            </a:extLst>
          </p:cNvPr>
          <p:cNvSpPr>
            <a:spLocks noGrp="1"/>
          </p:cNvSpPr>
          <p:nvPr/>
        </p:nvSpPr>
        <p:spPr>
          <a:xfrm>
            <a:off x="4400550" y="18478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2829BF-4D59-45E3-A5C9-CF78A6F331EB}"/>
              </a:ext>
            </a:extLst>
          </p:cNvPr>
          <p:cNvSpPr>
            <a:spLocks noGrp="1"/>
          </p:cNvSpPr>
          <p:nvPr/>
        </p:nvSpPr>
        <p:spPr>
          <a:xfrm>
            <a:off x="4400550" y="23526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Arrival and release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461898-BBA6-4812-B900-7372D472F82B}"/>
              </a:ext>
            </a:extLst>
          </p:cNvPr>
          <p:cNvSpPr>
            <a:spLocks noGrp="1"/>
          </p:cNvSpPr>
          <p:nvPr/>
        </p:nvSpPr>
        <p:spPr>
          <a:xfrm>
            <a:off x="4400550" y="291465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A173D5-1C2C-41A1-92E1-E926D27857BF}"/>
              </a:ext>
            </a:extLst>
          </p:cNvPr>
          <p:cNvSpPr>
            <a:spLocks noGrp="1"/>
          </p:cNvSpPr>
          <p:nvPr/>
        </p:nvSpPr>
        <p:spPr>
          <a:xfrm>
            <a:off x="4400550" y="3238500"/>
            <a:ext cx="323850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confirms use. Unclaimed bookings release after the local deadline so colleagues can reserve the space.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D459A8-7BE3-4F1F-881C-C3092218ABA9}"/>
              </a:ext>
            </a:extLst>
          </p:cNvPr>
          <p:cNvSpPr>
            <a:spLocks noGrp="1"/>
          </p:cNvSpPr>
          <p:nvPr/>
        </p:nvSpPr>
        <p:spPr>
          <a:xfrm>
            <a:off x="8115300" y="184785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949DCB-92C9-4734-BB0A-F222CD2B1EE3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Workplace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9F8136-C200-47A5-8361-98612D9B0452}"/>
              </a:ext>
            </a:extLst>
          </p:cNvPr>
          <p:cNvSpPr>
            <a:spLocks noGrp="1"/>
          </p:cNvSpPr>
          <p:nvPr/>
        </p:nvSpPr>
        <p:spPr>
          <a:xfrm>
            <a:off x="8115300" y="291465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F12BC7-C3FC-4A00-A008-5C28D77D7567}"/>
              </a:ext>
            </a:extLst>
          </p:cNvPr>
          <p:cNvSpPr>
            <a:spLocks noGrp="1"/>
          </p:cNvSpPr>
          <p:nvPr/>
        </p:nvSpPr>
        <p:spPr>
          <a:xfrm>
            <a:off x="8115300" y="3238500"/>
            <a:ext cx="3238500" cy="1419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Admins set resources and local policies, resolve exceptions with an audit trail, and monitor no-shows.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6CBAEE-6E55-479B-80A8-84A3053A4DD2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8AF113-D40E-49FF-8B57-B09D006B7B67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Differentiators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5B8D4A-FB5A-4849-9FF9-CB959B8BA897}"/>
              </a:ext>
            </a:extLst>
          </p:cNvPr>
          <p:cNvSpPr>
            <a:spLocks noGrp="1"/>
          </p:cNvSpPr>
          <p:nvPr/>
        </p:nvSpPr>
        <p:spPr>
          <a:xfrm>
            <a:off x="4000500" y="5229225"/>
            <a:ext cx="7429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Database constraints prevent double bookings. Notifications keep employees informed. Provider-neutral check-in and local policies support more offices.</a:t>
            </a:r>
          </a:p>
        </p:txBody>
      </p:sp>
    </p:spTree>
    <p:extLst>
      <p:ext uri="{BB962C8B-B14F-4D97-AF65-F5344CB8AC3E}">
        <p14:creationId xmlns:p14="http://schemas.microsoft.com/office/powerpoint/2010/main" val="10342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FD67CE2-B6E3-4587-8B7E-B99EFBCA0B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F11944-5480-4BBF-9CD9-564ABBB8DE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Architecture for full delivery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13FFE-A38A-4E2C-A66F-4454F23BC6FC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modular monolith protects booking consistency and keeps providers replaceable.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C90E5-1A68-457F-B382-E96FA2C4AAD7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3CB3B-6D8B-4B51-82A5-374A7A964CAF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D1850-9641-4D82-B788-B34B370440D6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955E74-B147-4D2C-8242-458AA4628455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24E73E-FD61-4CB7-9A44-D95E59D69732}"/>
              </a:ext>
            </a:extLst>
          </p:cNvPr>
          <p:cNvSpPr>
            <a:spLocks noGrp="1"/>
          </p:cNvSpPr>
          <p:nvPr/>
        </p:nvSpPr>
        <p:spPr>
          <a:xfrm>
            <a:off x="838200" y="1895475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7348"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+ admin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E4CC91-CE33-469C-AA99-58729118834E}"/>
              </a:ext>
            </a:extLst>
          </p:cNvPr>
          <p:cNvSpPr>
            <a:spLocks noGrp="1"/>
          </p:cNvSpPr>
          <p:nvPr/>
        </p:nvSpPr>
        <p:spPr>
          <a:xfrm>
            <a:off x="838200" y="2276475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Responsive web experience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9CADF7-453E-4AC8-98B1-2F9BB1C7F0C5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9B600-BA2F-4F4D-9DB1-36D23E5C7692}"/>
              </a:ext>
            </a:extLst>
          </p:cNvPr>
          <p:cNvSpPr>
            <a:spLocks noGrp="1"/>
          </p:cNvSpPr>
          <p:nvPr/>
        </p:nvSpPr>
        <p:spPr>
          <a:xfrm>
            <a:off x="838200" y="3752850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Check-in providers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B847C9-4F72-4D1C-926E-35A33003A7F9}"/>
              </a:ext>
            </a:extLst>
          </p:cNvPr>
          <p:cNvSpPr>
            <a:spLocks noGrp="1"/>
          </p:cNvSpPr>
          <p:nvPr/>
        </p:nvSpPr>
        <p:spPr>
          <a:xfrm>
            <a:off x="838200" y="4133850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Authenticated ingress and adapters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96A50-94A2-45E4-8303-DB4E5F47B6AE}"/>
              </a:ext>
            </a:extLst>
          </p:cNvPr>
          <p:cNvSpPr>
            <a:spLocks noGrp="1"/>
          </p:cNvSpPr>
          <p:nvPr/>
        </p:nvSpPr>
        <p:spPr>
          <a:xfrm>
            <a:off x="3886200" y="1762125"/>
            <a:ext cx="43815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14669C-0F44-4EA8-A978-C67D5267083F}"/>
              </a:ext>
            </a:extLst>
          </p:cNvPr>
          <p:cNvSpPr>
            <a:spLocks noGrp="1"/>
          </p:cNvSpPr>
          <p:nvPr/>
        </p:nvSpPr>
        <p:spPr>
          <a:xfrm>
            <a:off x="4038600" y="1895475"/>
            <a:ext cx="4076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Smart Office API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49884B-A7AA-4712-8CD1-3B58DC1AAC65}"/>
              </a:ext>
            </a:extLst>
          </p:cNvPr>
          <p:cNvSpPr>
            <a:spLocks noGrp="1"/>
          </p:cNvSpPr>
          <p:nvPr/>
        </p:nvSpPr>
        <p:spPr>
          <a:xfrm>
            <a:off x="4038600" y="2276475"/>
            <a:ext cx="4076700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Booking and resource policy</a:t>
            </a:r>
          </a:p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gateway and release engine</a:t>
            </a:r>
          </a:p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Notification outbox and audit</a:t>
            </a:r>
          </a:p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Office scope and reporting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71E1C-2AEC-4FF3-96F1-9E8B78930A89}"/>
              </a:ext>
            </a:extLst>
          </p:cNvPr>
          <p:cNvSpPr>
            <a:spLocks noGrp="1"/>
          </p:cNvSpPr>
          <p:nvPr/>
        </p:nvSpPr>
        <p:spPr>
          <a:xfrm>
            <a:off x="9191625" y="176212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A64F2A-2E55-4D9C-B01D-D3BB927E7105}"/>
              </a:ext>
            </a:extLst>
          </p:cNvPr>
          <p:cNvSpPr>
            <a:spLocks noGrp="1"/>
          </p:cNvSpPr>
          <p:nvPr/>
        </p:nvSpPr>
        <p:spPr>
          <a:xfrm>
            <a:off x="9344025" y="1895475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Relational 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8B6ABA-9121-4542-907A-0BA256E92663}"/>
              </a:ext>
            </a:extLst>
          </p:cNvPr>
          <p:cNvSpPr>
            <a:spLocks noGrp="1"/>
          </p:cNvSpPr>
          <p:nvPr/>
        </p:nvSpPr>
        <p:spPr>
          <a:xfrm>
            <a:off x="9344025" y="2276475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Constraints, state and outbox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57C17D-F138-45DE-9E7F-1B035515A639}"/>
              </a:ext>
            </a:extLst>
          </p:cNvPr>
          <p:cNvSpPr>
            <a:spLocks noGrp="1"/>
          </p:cNvSpPr>
          <p:nvPr/>
        </p:nvSpPr>
        <p:spPr>
          <a:xfrm>
            <a:off x="9191625" y="3619500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CED8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978969-5B0B-42EE-BCBC-755A95BF22A5}"/>
              </a:ext>
            </a:extLst>
          </p:cNvPr>
          <p:cNvSpPr>
            <a:spLocks noGrp="1"/>
          </p:cNvSpPr>
          <p:nvPr/>
        </p:nvSpPr>
        <p:spPr>
          <a:xfrm>
            <a:off x="9344025" y="3752850"/>
            <a:ext cx="1981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Managed 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CC9CE8-2CC5-4FD9-880A-7134FDAD75B2}"/>
              </a:ext>
            </a:extLst>
          </p:cNvPr>
          <p:cNvSpPr>
            <a:spLocks noGrp="1"/>
          </p:cNvSpPr>
          <p:nvPr/>
        </p:nvSpPr>
        <p:spPr>
          <a:xfrm>
            <a:off x="9344025" y="4133850"/>
            <a:ext cx="1981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Retryable check-in events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320967-2DE4-4EC3-A4B0-886ADE7EF2CD}"/>
              </a:ext>
            </a:extLst>
          </p:cNvPr>
          <p:cNvSpPr>
            <a:spLocks noGrp="1"/>
          </p:cNvSpPr>
          <p:nvPr/>
        </p:nvSpPr>
        <p:spPr>
          <a:xfrm>
            <a:off x="3162300" y="2428875"/>
            <a:ext cx="523875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94D5AD-461A-4B23-8C62-D585BB0A7425}"/>
              </a:ext>
            </a:extLst>
          </p:cNvPr>
          <p:cNvSpPr>
            <a:spLocks noGrp="1"/>
          </p:cNvSpPr>
          <p:nvPr/>
        </p:nvSpPr>
        <p:spPr>
          <a:xfrm>
            <a:off x="3162300" y="4276725"/>
            <a:ext cx="523875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018D1A-A53E-444A-A575-750238DC12CA}"/>
              </a:ext>
            </a:extLst>
          </p:cNvPr>
          <p:cNvSpPr>
            <a:spLocks noGrp="1"/>
          </p:cNvSpPr>
          <p:nvPr/>
        </p:nvSpPr>
        <p:spPr>
          <a:xfrm>
            <a:off x="8439150" y="2428875"/>
            <a:ext cx="571500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407999-DD22-4F3B-A6A5-AE8CF3ECF176}"/>
              </a:ext>
            </a:extLst>
          </p:cNvPr>
          <p:cNvSpPr>
            <a:spLocks noGrp="1"/>
          </p:cNvSpPr>
          <p:nvPr/>
        </p:nvSpPr>
        <p:spPr>
          <a:xfrm>
            <a:off x="8439150" y="4276725"/>
            <a:ext cx="571500" cy="285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1CC810-3171-4DA0-915B-EC9CD95F90B4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8108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Entra ID for identity; Microsoft Graph for Teams or email after client choice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DA51EF-4C99-4724-BE6F-77CC4C5AC474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10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Server authorization, minimum data, audit, security checks, backups and monitored release jobs</a:t>
            </a:r>
          </a:p>
        </p:txBody>
      </p:sp>
    </p:spTree>
    <p:extLst>
      <p:ext uri="{BB962C8B-B14F-4D97-AF65-F5344CB8AC3E}">
        <p14:creationId xmlns:p14="http://schemas.microsoft.com/office/powerpoint/2010/main" val="147996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274524E-D4E4-48DD-A915-597C8A231F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09D86-5798-4DFA-AE2C-9926ECF7DA3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scope and validation goals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192B9-93CF-4CC2-B387-56D5E0635EB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Three selected capabilities cover the core workplace journey and its main technical risks.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1B723-1EE5-4EF6-8569-86C4737EF8E3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4BB04-7563-42E9-9E0E-E5EC9C6A505F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34280F-BD2F-4F1D-AD5B-DB95D63A25D9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6FA44-D55E-4F8D-BCCA-2D24223B7EA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C1  Booking creation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FD80CE-CE43-4B3A-B82F-A0D320EC3CEA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D376C7-45B4-4C5F-88D6-CD551805E9D8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2385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reserve a desk or parking space. Database constraints prevent overlapping resource bookings and daily-limit conflicts.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7D4E0-2475-452F-A2A8-8D91FC21677F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323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transaction safety and clear conflict feedback.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9272C-DF23-49AD-B4E9-E8175BDC88F6}"/>
              </a:ext>
            </a:extLst>
          </p:cNvPr>
          <p:cNvSpPr>
            <a:spLocks noGrp="1"/>
          </p:cNvSpPr>
          <p:nvPr/>
        </p:nvSpPr>
        <p:spPr>
          <a:xfrm>
            <a:off x="4400550" y="184785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C2  Automatic release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C871A-6B61-4CFF-B200-63D9B315EF4B}"/>
              </a:ext>
            </a:extLst>
          </p:cNvPr>
          <p:cNvSpPr>
            <a:spLocks noGrp="1"/>
          </p:cNvSpPr>
          <p:nvPr/>
        </p:nvSpPr>
        <p:spPr>
          <a:xfrm>
            <a:off x="4400550" y="240030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13F9E-A959-4DA7-85EF-BB5CCDD9FB6C}"/>
              </a:ext>
            </a:extLst>
          </p:cNvPr>
          <p:cNvSpPr>
            <a:spLocks noGrp="1"/>
          </p:cNvSpPr>
          <p:nvPr/>
        </p:nvSpPr>
        <p:spPr>
          <a:xfrm>
            <a:off x="4400550" y="2686050"/>
            <a:ext cx="32385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Arrival evidence comes from the app or a simulated provider. A missed local deadline releases unused capacity for another employee.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FFCE53-241E-4EA1-B588-3EAA98A363E1}"/>
              </a:ext>
            </a:extLst>
          </p:cNvPr>
          <p:cNvSpPr>
            <a:spLocks noGrp="1"/>
          </p:cNvSpPr>
          <p:nvPr/>
        </p:nvSpPr>
        <p:spPr>
          <a:xfrm>
            <a:off x="4400550" y="4486275"/>
            <a:ext cx="323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time-zone policy, duplicate events and safe repeat release.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C21E8A-A6D8-4420-8A00-46ED5D8A3C21}"/>
              </a:ext>
            </a:extLst>
          </p:cNvPr>
          <p:cNvSpPr>
            <a:spLocks noGrp="1"/>
          </p:cNvSpPr>
          <p:nvPr/>
        </p:nvSpPr>
        <p:spPr>
          <a:xfrm>
            <a:off x="8115300" y="1847850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C3  Notifications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AA4743-D986-4BC2-A2F3-D55BC91A848D}"/>
              </a:ext>
            </a:extLst>
          </p:cNvPr>
          <p:cNvSpPr>
            <a:spLocks noGrp="1"/>
          </p:cNvSpPr>
          <p:nvPr/>
        </p:nvSpPr>
        <p:spPr>
          <a:xfrm>
            <a:off x="8115300" y="2400300"/>
            <a:ext cx="3238500" cy="381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77B99D-08ED-4B40-8511-5417EBACD691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32385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Confirmation, reminder and release messages are recorded as durable intents, then delivered through a replaceable channel adapter.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3FC7BD-FA68-4509-BDFB-966549393BDF}"/>
              </a:ext>
            </a:extLst>
          </p:cNvPr>
          <p:cNvSpPr>
            <a:spLocks noGrp="1"/>
          </p:cNvSpPr>
          <p:nvPr/>
        </p:nvSpPr>
        <p:spPr>
          <a:xfrm>
            <a:off x="8115300" y="4486275"/>
            <a:ext cx="3238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reliable dispatch, retries and channel independence.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DCF734-9315-45A8-A46E-9D5745EB39C8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DE0906-6BEE-4655-B82A-7BA1F6B175E1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24288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Demonstration story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DC03C-A0F2-4FA7-A6F6-BA2C7EEDAB03}"/>
              </a:ext>
            </a:extLst>
          </p:cNvPr>
          <p:cNvSpPr>
            <a:spLocks noGrp="1"/>
          </p:cNvSpPr>
          <p:nvPr/>
        </p:nvSpPr>
        <p:spPr>
          <a:xfrm>
            <a:off x="3286125" y="5762625"/>
            <a:ext cx="81248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Reserve  →  no arrival  →  release  →  availability returns  →  notice queued</a:t>
            </a:r>
          </a:p>
        </p:txBody>
      </p:sp>
    </p:spTree>
    <p:extLst>
      <p:ext uri="{BB962C8B-B14F-4D97-AF65-F5344CB8AC3E}">
        <p14:creationId xmlns:p14="http://schemas.microsoft.com/office/powerpoint/2010/main" val="133185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2AA0C30-0378-4E73-AD29-691B43480F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1E810-D66C-4FBE-AB5D-28F55D9A591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How we deliver with AI assistance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EF98B-1260-431C-A973-46C31599747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People guide decisions while AI assistants support focused work throughout delivery.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1AFEB-5F9B-4E5F-8AEE-A75F45DF6BCE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EDD98-6BEA-4D0D-B49C-1C7CC83FCAEE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006E3-C786-4F2D-BE04-6D76716E1303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EFA7B8-DE0D-4C6E-89C7-2BBBD490A339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E8E311-856E-4A35-9A74-B72345287AFC}"/>
              </a:ext>
            </a:extLst>
          </p:cNvPr>
          <p:cNvSpPr>
            <a:spLocks noGrp="1"/>
          </p:cNvSpPr>
          <p:nvPr/>
        </p:nvSpPr>
        <p:spPr>
          <a:xfrm>
            <a:off x="1438275" y="1752600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Understand and agree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75004-B07C-45E5-B801-BA088992B567}"/>
              </a:ext>
            </a:extLst>
          </p:cNvPr>
          <p:cNvSpPr>
            <a:spLocks noGrp="1"/>
          </p:cNvSpPr>
          <p:nvPr/>
        </p:nvSpPr>
        <p:spPr>
          <a:xfrm>
            <a:off x="4476750" y="1752600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owners confirm priorities and office rules. A team lead agrees the plan before work begins.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CD5C8-CA9B-4FA1-B0C4-8047B746B4B0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EA23A-1FA1-4582-91CC-F7705B0FF9B7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79A3BB-1BAE-4F48-A4FC-6479669F8C9A}"/>
              </a:ext>
            </a:extLst>
          </p:cNvPr>
          <p:cNvSpPr>
            <a:spLocks noGrp="1"/>
          </p:cNvSpPr>
          <p:nvPr/>
        </p:nvSpPr>
        <p:spPr>
          <a:xfrm>
            <a:off x="1438275" y="2714625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Build and check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B63B03-43F9-4B9F-B125-944DE20AFAC9}"/>
              </a:ext>
            </a:extLst>
          </p:cNvPr>
          <p:cNvSpPr>
            <a:spLocks noGrp="1"/>
          </p:cNvSpPr>
          <p:nvPr/>
        </p:nvSpPr>
        <p:spPr>
          <a:xfrm>
            <a:off x="4476750" y="2714625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AI assistants help build features in manageable steps. Engineers review changes and check quality, security and privacy.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561E44-B815-4F9B-86AE-DE3DFBB57014}"/>
              </a:ext>
            </a:extLst>
          </p:cNvPr>
          <p:cNvSpPr>
            <a:spLocks noGrp="1"/>
          </p:cNvSpPr>
          <p:nvPr/>
        </p:nvSpPr>
        <p:spPr>
          <a:xfrm>
            <a:off x="685800" y="355282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7869C3-E452-44FA-90E9-E50CBFC2642C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9011B1-6E42-4EA4-B378-7219E97D75A0}"/>
              </a:ext>
            </a:extLst>
          </p:cNvPr>
          <p:cNvSpPr>
            <a:spLocks noGrp="1"/>
          </p:cNvSpPr>
          <p:nvPr/>
        </p:nvSpPr>
        <p:spPr>
          <a:xfrm>
            <a:off x="1438275" y="3676650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Approve and release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63EBF1-CE12-4DA7-AAA5-D6C54CF54C50}"/>
              </a:ext>
            </a:extLst>
          </p:cNvPr>
          <p:cNvSpPr>
            <a:spLocks noGrp="1"/>
          </p:cNvSpPr>
          <p:nvPr/>
        </p:nvSpPr>
        <p:spPr>
          <a:xfrm>
            <a:off x="4476750" y="3676650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The team resolves issues and confirms the agreed goals. The client owner approves the release.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06E973-8F42-411A-9FDB-4F16A917C9E5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EEBD53-BA0F-426F-8439-18B87D0597D1}"/>
              </a:ext>
            </a:extLst>
          </p:cNvPr>
          <p:cNvSpPr>
            <a:spLocks noGrp="1"/>
          </p:cNvSpPr>
          <p:nvPr/>
        </p:nvSpPr>
        <p:spPr>
          <a:xfrm>
            <a:off x="685800" y="4638675"/>
            <a:ext cx="647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37FE97-3CF8-4451-83A6-BD072B9B56C7}"/>
              </a:ext>
            </a:extLst>
          </p:cNvPr>
          <p:cNvSpPr>
            <a:spLocks noGrp="1"/>
          </p:cNvSpPr>
          <p:nvPr/>
        </p:nvSpPr>
        <p:spPr>
          <a:xfrm>
            <a:off x="1438275" y="4638675"/>
            <a:ext cx="2857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Operate and improve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DA550-5904-4CEB-A9AA-82EB1C161E73}"/>
              </a:ext>
            </a:extLst>
          </p:cNvPr>
          <p:cNvSpPr>
            <a:spLocks noGrp="1"/>
          </p:cNvSpPr>
          <p:nvPr/>
        </p:nvSpPr>
        <p:spPr>
          <a:xfrm>
            <a:off x="4476750" y="4638675"/>
            <a:ext cx="6810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The team monitors the service and responds to defects. Feedback improves the solution and future delivery work.</a:t>
            </a:r>
          </a:p>
        </p:txBody>
      </p:sp>
    </p:spTree>
    <p:extLst>
      <p:ext uri="{BB962C8B-B14F-4D97-AF65-F5344CB8AC3E}">
        <p14:creationId xmlns:p14="http://schemas.microsoft.com/office/powerpoint/2010/main" val="167361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5922D75-30F0-4D01-9E2B-3472975F2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1F70AE-E83C-49D0-8911-6F7851C2188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delivery dependencies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78F2E-9E37-40E3-88FA-6133CBE7F933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Client choices and proof of the core journey shape the final scope and cost.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8A8646-4D82-483E-9C1E-EBEE0B85CA35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1530A-6653-4E61-BA75-998C7FE816A3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201C9-0177-4A2B-8B84-207EEBC63228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8FE5B-3D83-4F9D-AC85-413E140F660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Usage and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21DDFF-B067-4CFA-9911-F58B150C6446}"/>
              </a:ext>
            </a:extLst>
          </p:cNvPr>
          <p:cNvSpPr>
            <a:spLocks noGrp="1"/>
          </p:cNvSpPr>
          <p:nvPr/>
        </p:nvSpPr>
        <p:spPr>
          <a:xfrm>
            <a:off x="3714750" y="16192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 baseline demand, no-show rate and target economics for the first 200 employees.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8019A-154F-4737-81CF-8C4389718E7E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6FDF3-C61D-4169-A6F4-A0A6AF49B1FE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Integration choice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1BB89B-8335-4925-B554-19E57D15B2C3}"/>
              </a:ext>
            </a:extLst>
          </p:cNvPr>
          <p:cNvSpPr>
            <a:spLocks noGrp="1"/>
          </p:cNvSpPr>
          <p:nvPr/>
        </p:nvSpPr>
        <p:spPr>
          <a:xfrm>
            <a:off x="3714750" y="25717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Select first check-in provider and notice channel; obtain vendor and license quotes.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0DC21-0711-4DD3-9227-0489252B0C46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28A78B-F269-4B58-A103-F1CB3E75CE14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Service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0FE218-84FF-46A4-8567-25B4AF508A81}"/>
              </a:ext>
            </a:extLst>
          </p:cNvPr>
          <p:cNvSpPr>
            <a:spLocks noGrp="1"/>
          </p:cNvSpPr>
          <p:nvPr/>
        </p:nvSpPr>
        <p:spPr>
          <a:xfrm>
            <a:off x="3714750" y="35242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 cloud, retention, security, peak load and recovery requirements before sizing.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EC460-0302-4D69-88DA-EA45113C8EC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6DD6FC-22AC-4623-B9B8-119D39B9BF8B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0070D4-E328-48BA-B5A6-D780A1C21F8E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the release and outbox work; demonstrate the full no-show journey and record results.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96E827-F2D8-458F-A66B-F768CBE92AE8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4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1B87E45-4819-41BF-9302-3E687A6029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B5D67-F297-4CAC-8A25-31CDB49490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Roadmap and gates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1CA96-07BE-4FA4-A6D4-5653A5902F2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The 389-PD scenario retains the W10 proof and W26 release targets.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5A98B4-E2B9-4AB1-9C80-F8DC89A05E5F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96898-0D86-4FB7-BA15-F865F8A0A914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AF89EF-7515-4764-9946-C760C1698836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46F3C-C74C-41BE-85C1-38DD80B9F012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W1–W2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6543F-5C88-43A5-ACD2-30258E94352C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setup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2D5B54-CC6A-42B6-99D5-1F0744E7E773}"/>
              </a:ext>
            </a:extLst>
          </p:cNvPr>
          <p:cNvSpPr>
            <a:spLocks noGrp="1"/>
          </p:cNvSpPr>
          <p:nvPr/>
        </p:nvSpPr>
        <p:spPr>
          <a:xfrm>
            <a:off x="685800" y="2962275"/>
            <a:ext cx="2524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26 PD · €20,800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Policy, provider and baseline decisions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40033-4214-4DA9-9A76-8445A045800C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2381250" cy="66675"/>
          </a:xfrm>
          <a:prstGeom prst="rect">
            <a:avLst/>
          </a:prstGeom>
          <a:solidFill>
            <a:srgbClr val="E3A0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EEA760-3C6F-42C3-BB59-DC5D40364FEE}"/>
              </a:ext>
            </a:extLst>
          </p:cNvPr>
          <p:cNvSpPr>
            <a:spLocks noGrp="1"/>
          </p:cNvSpPr>
          <p:nvPr/>
        </p:nvSpPr>
        <p:spPr>
          <a:xfrm>
            <a:off x="3524250" y="1819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W3–W10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E74C0C-F29F-4ACA-A258-F9B7A2E29584}"/>
              </a:ext>
            </a:extLst>
          </p:cNvPr>
          <p:cNvSpPr>
            <a:spLocks noGrp="1"/>
          </p:cNvSpPr>
          <p:nvPr/>
        </p:nvSpPr>
        <p:spPr>
          <a:xfrm>
            <a:off x="3524250" y="2238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validation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E4CF3B-C923-4DBD-B3CC-5BFE0568A2C0}"/>
              </a:ext>
            </a:extLst>
          </p:cNvPr>
          <p:cNvSpPr>
            <a:spLocks noGrp="1"/>
          </p:cNvSpPr>
          <p:nvPr/>
        </p:nvSpPr>
        <p:spPr>
          <a:xfrm>
            <a:off x="3524250" y="2962275"/>
            <a:ext cx="2524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109 PD · €87,200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C1–C3 proof and client gate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4861F8-E404-40CB-BAD4-F296732C21E5}"/>
              </a:ext>
            </a:extLst>
          </p:cNvPr>
          <p:cNvSpPr>
            <a:spLocks noGrp="1"/>
          </p:cNvSpPr>
          <p:nvPr/>
        </p:nvSpPr>
        <p:spPr>
          <a:xfrm>
            <a:off x="3524250" y="4324350"/>
            <a:ext cx="2381250" cy="66675"/>
          </a:xfrm>
          <a:prstGeom prst="rect">
            <a:avLst/>
          </a:prstGeom>
          <a:solidFill>
            <a:srgbClr val="E3A04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83DFD8-AF74-4B5C-9F9D-8E55608F3058}"/>
              </a:ext>
            </a:extLst>
          </p:cNvPr>
          <p:cNvSpPr>
            <a:spLocks noGrp="1"/>
          </p:cNvSpPr>
          <p:nvPr/>
        </p:nvSpPr>
        <p:spPr>
          <a:xfrm>
            <a:off x="6362700" y="1819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W11–W23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CF16B0-10CD-49DC-B13C-BA9B6B67F4C7}"/>
              </a:ext>
            </a:extLst>
          </p:cNvPr>
          <p:cNvSpPr>
            <a:spLocks noGrp="1"/>
          </p:cNvSpPr>
          <p:nvPr/>
        </p:nvSpPr>
        <p:spPr>
          <a:xfrm>
            <a:off x="6362700" y="2238375"/>
            <a:ext cx="2524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931A90-0794-40ED-A8DD-7CA4EB50DCCE}"/>
              </a:ext>
            </a:extLst>
          </p:cNvPr>
          <p:cNvSpPr>
            <a:spLocks noGrp="1"/>
          </p:cNvSpPr>
          <p:nvPr/>
        </p:nvSpPr>
        <p:spPr>
          <a:xfrm>
            <a:off x="6362700" y="2962275"/>
            <a:ext cx="2524125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194 PD · €155,200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Identity, admin and integrations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2149E3-4486-4173-8CFF-1784ED7341DC}"/>
              </a:ext>
            </a:extLst>
          </p:cNvPr>
          <p:cNvSpPr>
            <a:spLocks noGrp="1"/>
          </p:cNvSpPr>
          <p:nvPr/>
        </p:nvSpPr>
        <p:spPr>
          <a:xfrm>
            <a:off x="6362700" y="4324350"/>
            <a:ext cx="2381250" cy="666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55AE90-CE86-4DCE-8849-B750D8EE0BD8}"/>
              </a:ext>
            </a:extLst>
          </p:cNvPr>
          <p:cNvSpPr>
            <a:spLocks noGrp="1"/>
          </p:cNvSpPr>
          <p:nvPr/>
        </p:nvSpPr>
        <p:spPr>
          <a:xfrm>
            <a:off x="9201150" y="181927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W21–W26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9FFB07-058C-4006-9AED-998E58316727}"/>
              </a:ext>
            </a:extLst>
          </p:cNvPr>
          <p:cNvSpPr>
            <a:spLocks noGrp="1"/>
          </p:cNvSpPr>
          <p:nvPr/>
        </p:nvSpPr>
        <p:spPr>
          <a:xfrm>
            <a:off x="9201150" y="22383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Release and handover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1E7560-81FF-49D9-8A31-4A0FFABB4357}"/>
              </a:ext>
            </a:extLst>
          </p:cNvPr>
          <p:cNvSpPr>
            <a:spLocks noGrp="1"/>
          </p:cNvSpPr>
          <p:nvPr/>
        </p:nvSpPr>
        <p:spPr>
          <a:xfrm>
            <a:off x="9201150" y="2962275"/>
            <a:ext cx="2286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60 PD · €48,000</a:t>
            </a:r>
          </a:p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Load, recovery and adoption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502DAB-E721-4BF8-B85E-062802E4C122}"/>
              </a:ext>
            </a:extLst>
          </p:cNvPr>
          <p:cNvSpPr>
            <a:spLocks noGrp="1"/>
          </p:cNvSpPr>
          <p:nvPr/>
        </p:nvSpPr>
        <p:spPr>
          <a:xfrm>
            <a:off x="9201150" y="4324350"/>
            <a:ext cx="2143125" cy="66675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A8F46F-87A5-4337-B30B-C551D71E4D7F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W10 continuation gate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55692A-8D62-4BAA-AEF5-BA163B21C924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Proceed after three-function evidence, agreed metrics and integration quotes; rebaseline the remaining 254 PD if scope changes.</a:t>
            </a:r>
          </a:p>
        </p:txBody>
      </p:sp>
    </p:spTree>
    <p:extLst>
      <p:ext uri="{BB962C8B-B14F-4D97-AF65-F5344CB8AC3E}">
        <p14:creationId xmlns:p14="http://schemas.microsoft.com/office/powerpoint/2010/main" val="185617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A4D27B5-AA71-4FA8-A94B-3233303F2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994A9-0B58-442D-8A1D-8CE3B75C6D3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Proposed team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2981E-B422-4D70-985E-C10434EC61C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389 person-days across 26 weeks; combined leadership and part-time QA are planning assumptions.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FD1EB9-965D-450F-9BAD-91F51294932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CAE8E-6392-46B8-AF5B-6BDDD027506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A192C-45C5-4C5D-B342-E2F067DC6FA9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23" name="Team staffing table"/>
          <p:cNvGraphicFramePr/>
          <p:nvPr/>
        </p:nvGraphicFramePr>
        <p:xfrm>
          <a:off x="685800" y="1700000"/>
          <a:ext cx="10820400" cy="4530000"/>
        </p:xfrm>
        <a:graphic>
          <a:graphicData uri="http://schemas.openxmlformats.org/drawingml/2006/table">
            <a:tbl>
              <a:tblPr firstRow="1"/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T="38100" marB="38100">
                    <a:lnB w="6350">
                      <a:solidFill>
                        <a:srgbClr val="D4E0E0"/>
                      </a:solidFill>
                    </a:lnB>
                    <a:solidFill>
                      <a:srgbClr val="247F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 marT="38100" marB="38100">
                    <a:lnB w="6350">
                      <a:solidFill>
                        <a:srgbClr val="D4E0E0"/>
                      </a:solidFill>
                    </a:lnB>
                    <a:solidFill>
                      <a:srgbClr val="247F7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Staffing model</a:t>
                      </a:r>
                    </a:p>
                  </a:txBody>
                  <a:tcPr marT="38100" marB="38100">
                    <a:lnB w="6350">
                      <a:solidFill>
                        <a:srgbClr val="D4E0E0"/>
                      </a:solidFill>
                    </a:lnB>
                    <a:solidFill>
                      <a:srgbClr val="247F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Architect + delivery lead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One person owns design, planning and gates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Backend engineers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At least two; senior-led review and delivery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Frontend engineer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Employee and admin journeys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Platform / DevOps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CI, environments, operations and recovery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QA engineer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Part-time; risk-based checks at key gates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UX / accessibility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Usability and accessibility reviews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000"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Security / privacy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0">
                          <a:solidFill>
                            <a:srgbClr val="18313F"/>
                          </a:solidFill>
                          <a:latin typeface="Arial"/>
                        </a:rPr>
                        <a:t>Access, privacy and release risk reviews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50" b="1">
                          <a:solidFill>
                            <a:srgbClr val="18313F"/>
                          </a:solidFill>
                          <a:latin typeface="Arial"/>
                        </a:rPr>
                        <a:t>About 3.0 average delivery FTE</a:t>
                      </a:r>
                    </a:p>
                  </a:txBody>
                  <a:tcPr marT="38100" marB="38100">
                    <a:lnT w="6350" cap="flat" cmpd="sng" algn="ctr">
                      <a:solidFill>
                        <a:srgbClr val="D4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4E0E0"/>
                      </a:solidFill>
                    </a:lnB>
                    <a:solidFill>
                      <a:srgbClr val="E3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224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A4D27B5-AA71-4FA8-A94B-3233303F2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E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994A9-0B58-442D-8A1D-8CE3B75C6D3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Commercial proposal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F2981E-B422-4D70-985E-C10434EC61C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26-week target, with 389 person-days as the working baseline and €800 per PD as the planning rate.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FD1EB9-965D-450F-9BAD-91F512949320}"/>
              </a:ext>
            </a:extLst>
          </p:cNvPr>
          <p:cNvSpPr>
            <a:spLocks noGrp="1"/>
          </p:cNvSpPr>
          <p:nvPr/>
        </p:nvSpPr>
        <p:spPr>
          <a:xfrm>
            <a:off x="685800" y="6343650"/>
            <a:ext cx="10820400" cy="9525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CAE8E-6392-46B8-AF5B-6BDDD027506C}"/>
              </a:ext>
            </a:extLst>
          </p:cNvPr>
          <p:cNvSpPr>
            <a:spLocks noGrp="1"/>
          </p:cNvSpPr>
          <p:nvPr/>
        </p:nvSpPr>
        <p:spPr>
          <a:xfrm>
            <a:off x="685800" y="6429375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A192C-45C5-4C5D-B342-E2F067DC6FA9}"/>
              </a:ext>
            </a:extLst>
          </p:cNvPr>
          <p:cNvSpPr>
            <a:spLocks noGrp="1"/>
          </p:cNvSpPr>
          <p:nvPr/>
        </p:nvSpPr>
        <p:spPr>
          <a:xfrm>
            <a:off x="10763250" y="6429375"/>
            <a:ext cx="7429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51932D-CB5D-482A-826A-9452904AB9EA}"/>
              </a:ext>
            </a:extLst>
          </p:cNvPr>
          <p:cNvSpPr>
            <a:spLocks noGrp="1"/>
          </p:cNvSpPr>
          <p:nvPr/>
        </p:nvSpPr>
        <p:spPr>
          <a:xfrm>
            <a:off x="685800" y="2009775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budget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11BAD-F085-42C2-8604-D996FDCA807C}"/>
              </a:ext>
            </a:extLst>
          </p:cNvPr>
          <p:cNvSpPr>
            <a:spLocks noGrp="1"/>
          </p:cNvSpPr>
          <p:nvPr/>
        </p:nvSpPr>
        <p:spPr>
          <a:xfrm>
            <a:off x="4476750" y="200977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389 PD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32E58-8AFB-4816-A6D7-3F6218A0EF4A}"/>
              </a:ext>
            </a:extLst>
          </p:cNvPr>
          <p:cNvSpPr>
            <a:spLocks noGrp="1"/>
          </p:cNvSpPr>
          <p:nvPr/>
        </p:nvSpPr>
        <p:spPr>
          <a:xfrm>
            <a:off x="7905750" y="2009775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€311,200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91629-8763-47CE-92B0-CD61B300F3D3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C5AAEE-EE87-4D35-B7D4-40721351DF6C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Azure third party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9C92C3-DBE2-41A0-BE9E-CE525CE831E2}"/>
              </a:ext>
            </a:extLst>
          </p:cNvPr>
          <p:cNvSpPr>
            <a:spLocks noGrp="1"/>
          </p:cNvSpPr>
          <p:nvPr/>
        </p:nvSpPr>
        <p:spPr>
          <a:xfrm>
            <a:off x="4476750" y="2895600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26-week estimate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853F62-CEDE-4953-9E12-0160992CD4CC}"/>
              </a:ext>
            </a:extLst>
          </p:cNvPr>
          <p:cNvSpPr>
            <a:spLocks noGrp="1"/>
          </p:cNvSpPr>
          <p:nvPr/>
        </p:nvSpPr>
        <p:spPr>
          <a:xfrm>
            <a:off x="7905750" y="2895600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€876–€2,629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F22CD6-3B87-46CC-A200-7C38B850F760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6C9F02-EB34-4BE7-B220-D426661149D6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3667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Priced items total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4C0C35-D7D8-4B5A-9EA0-8C2354D93E24}"/>
              </a:ext>
            </a:extLst>
          </p:cNvPr>
          <p:cNvSpPr>
            <a:spLocks noGrp="1"/>
          </p:cNvSpPr>
          <p:nvPr/>
        </p:nvSpPr>
        <p:spPr>
          <a:xfrm>
            <a:off x="4476750" y="3781425"/>
            <a:ext cx="3238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 budget plus Azure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FFCCB3-4FC8-46B4-AF95-A4E2DE9A5A40}"/>
              </a:ext>
            </a:extLst>
          </p:cNvPr>
          <p:cNvSpPr>
            <a:spLocks noGrp="1"/>
          </p:cNvSpPr>
          <p:nvPr/>
        </p:nvSpPr>
        <p:spPr>
          <a:xfrm>
            <a:off x="7905750" y="3781425"/>
            <a:ext cx="35909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r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€312,076–€313,829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838C69-1B50-468E-B58B-99DAD71F6413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820400" cy="19050"/>
          </a:xfrm>
          <a:prstGeom prst="rect">
            <a:avLst/>
          </a:prstGeom>
          <a:solidFill>
            <a:srgbClr val="CED8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DD1009-7718-4E07-BFE7-32E82F3DF953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10620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The team budget uses the 389-PD working baseline at €800 per person-day.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17F5C8-21A7-4B54-A35F-F6724422D9D0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6203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Other third-party costs require quotes: agent tools, any extra Microsoft licenses, the real check-in vendor and optional enterprise network or support.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BF8802-88B0-4A27-9712-15310C2EDD23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106203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For 200 employees, value depends on verified capacity savings and future office reuse. This range covers priced items only; it is not an all-in ceiling.</a:t>
            </a:r>
          </a:p>
        </p:txBody>
      </p:sp>
    </p:spTree>
    <p:extLst>
      <p:ext uri="{BB962C8B-B14F-4D97-AF65-F5344CB8AC3E}">
        <p14:creationId xmlns:p14="http://schemas.microsoft.com/office/powerpoint/2010/main" val="15412240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1588</Words>
  <Application>Microsoft Macintosh PowerPoint</Application>
  <DocSecurity>0</DocSecurity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Sentic, Stefan</cp:lastModifiedBy>
  <cp:revision>3</cp:revision>
  <dcterms:created xsi:type="dcterms:W3CDTF">2026-09-25T09:32:41Z</dcterms:created>
  <dcterms:modified xsi:type="dcterms:W3CDTF">2026-09-25T11:05:59Z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2d5f03-5700-4dc7-a1c3-a61da442dd69_Enabled">
    <vt:lpwstr>true</vt:lpwstr>
  </property>
  <property fmtid="{D5CDD505-2E9C-101B-9397-08002B2CF9AE}" pid="3" name="MSIP_Label_382d5f03-5700-4dc7-a1c3-a61da442dd69_SetDate">
    <vt:lpwstr>2026-09-25T10:01:22Z</vt:lpwstr>
  </property>
  <property fmtid="{D5CDD505-2E9C-101B-9397-08002B2CF9AE}" pid="4" name="MSIP_Label_382d5f03-5700-4dc7-a1c3-a61da442dd69_Method">
    <vt:lpwstr>Standard</vt:lpwstr>
  </property>
  <property fmtid="{D5CDD505-2E9C-101B-9397-08002B2CF9AE}" pid="5" name="MSIP_Label_382d5f03-5700-4dc7-a1c3-a61da442dd69_Name">
    <vt:lpwstr>SL300</vt:lpwstr>
  </property>
  <property fmtid="{D5CDD505-2E9C-101B-9397-08002B2CF9AE}" pid="6" name="MSIP_Label_382d5f03-5700-4dc7-a1c3-a61da442dd69_SiteId">
    <vt:lpwstr>ccce7f5e-a35f-4bc3-8e63-b2215e7d14f9</vt:lpwstr>
  </property>
  <property fmtid="{D5CDD505-2E9C-101B-9397-08002B2CF9AE}" pid="7" name="MSIP_Label_382d5f03-5700-4dc7-a1c3-a61da442dd69_ActionId">
    <vt:lpwstr>88fb8e0b-27bc-4460-921b-56597caf56a0</vt:lpwstr>
  </property>
  <property fmtid="{D5CDD505-2E9C-101B-9397-08002B2CF9AE}" pid="8" name="MSIP_Label_382d5f03-5700-4dc7-a1c3-a61da442dd69_ContentBits">
    <vt:lpwstr>0</vt:lpwstr>
  </property>
  <property fmtid="{D5CDD505-2E9C-101B-9397-08002B2CF9AE}" pid="9" name="MSIP_Label_382d5f03-5700-4dc7-a1c3-a61da442dd69_Tag">
    <vt:lpwstr>50, 3, 0, 1</vt:lpwstr>
  </property>
</Properties>
</file>