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03481ed3c444f" /><Relationship Type="http://schemas.openxmlformats.org/officeDocument/2006/relationships/extended-properties" Target="/docProps/app.xml" Id="Rfcddc8cec30d431c" /><Relationship Type="http://schemas.openxmlformats.org/officeDocument/2006/relationships/officeDocument" Target="/ppt/presentation.xml" Id="R8823df16dd62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1b052e5684491"/>
  </p:sldMasterIdLst>
  <p:notesMasterIdLst>
    <p:notesMasterId xmlns:r="http://schemas.openxmlformats.org/officeDocument/2006/relationships" r:id="Rf02a7e3a94dc48c5"/>
  </p:notesMasterIdLst>
  <p:sldIdLst>
    <p:sldId xmlns:r="http://schemas.openxmlformats.org/officeDocument/2006/relationships" id="256" r:id="R6dfa0f1701544311"/>
    <p:sldId xmlns:r="http://schemas.openxmlformats.org/officeDocument/2006/relationships" id="257" r:id="Raf011c20e7f24d73"/>
    <p:sldId xmlns:r="http://schemas.openxmlformats.org/officeDocument/2006/relationships" id="258" r:id="Rcbf9e43118e7445c"/>
    <p:sldId xmlns:r="http://schemas.openxmlformats.org/officeDocument/2006/relationships" id="259" r:id="R3c3c136f111848fb"/>
    <p:sldId xmlns:r="http://schemas.openxmlformats.org/officeDocument/2006/relationships" id="260" r:id="Rce0b594e165b4e04"/>
    <p:sldId xmlns:r="http://schemas.openxmlformats.org/officeDocument/2006/relationships" id="261" r:id="Re43db1dc5c7a4cf6"/>
    <p:sldId xmlns:r="http://schemas.openxmlformats.org/officeDocument/2006/relationships" id="262" r:id="Ra77ec34bf1184cd0"/>
    <p:sldId xmlns:r="http://schemas.openxmlformats.org/officeDocument/2006/relationships" id="263" r:id="Rf777ffb9161743f0"/>
    <p:sldId xmlns:r="http://schemas.openxmlformats.org/officeDocument/2006/relationships" id="264" r:id="R023319ba48d749c2"/>
    <p:sldId xmlns:r="http://schemas.openxmlformats.org/officeDocument/2006/relationships" id="265" r:id="Rad12495e7f9045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e27bb3a2914753" /><Relationship Type="http://schemas.openxmlformats.org/officeDocument/2006/relationships/slideMaster" Target="/ppt/slideMasters/slideMaster1.xml" Id="Rf9e1b052e5684491" /><Relationship Type="http://schemas.openxmlformats.org/officeDocument/2006/relationships/notesMaster" Target="/ppt/notesMasters/notesMaster1.xml" Id="Rf02a7e3a94dc48c5" /><Relationship Type="http://schemas.openxmlformats.org/officeDocument/2006/relationships/presProps" Target="/ppt/presProps.xml" Id="R5dceb2bc139f4255" /><Relationship Type="http://schemas.openxmlformats.org/officeDocument/2006/relationships/tableStyles" Target="/ppt/tableStyles.xml" Id="R431c71578d5c4dbf" /><Relationship Type="http://schemas.openxmlformats.org/officeDocument/2006/relationships/slide" Target="/ppt/slides/slide1.xml" Id="R6dfa0f1701544311" /><Relationship Type="http://schemas.openxmlformats.org/officeDocument/2006/relationships/slide" Target="/ppt/slides/slide2.xml" Id="Raf011c20e7f24d73" /><Relationship Type="http://schemas.openxmlformats.org/officeDocument/2006/relationships/slide" Target="/ppt/slides/slide3.xml" Id="Rcbf9e43118e7445c" /><Relationship Type="http://schemas.openxmlformats.org/officeDocument/2006/relationships/slide" Target="/ppt/slides/slide4.xml" Id="R3c3c136f111848fb" /><Relationship Type="http://schemas.openxmlformats.org/officeDocument/2006/relationships/slide" Target="/ppt/slides/slide5.xml" Id="Rce0b594e165b4e04" /><Relationship Type="http://schemas.openxmlformats.org/officeDocument/2006/relationships/slide" Target="/ppt/slides/slide6.xml" Id="Re43db1dc5c7a4cf6" /><Relationship Type="http://schemas.openxmlformats.org/officeDocument/2006/relationships/slide" Target="/ppt/slides/slide7.xml" Id="Ra77ec34bf1184cd0" /><Relationship Type="http://schemas.openxmlformats.org/officeDocument/2006/relationships/slide" Target="/ppt/slides/slide8.xml" Id="Rf777ffb9161743f0" /><Relationship Type="http://schemas.openxmlformats.org/officeDocument/2006/relationships/slide" Target="/ppt/slides/slide9.xml" Id="R023319ba48d749c2" /><Relationship Type="http://schemas.openxmlformats.org/officeDocument/2006/relationships/slide" Target="/ppt/slides/slide10.xml" Id="Rad12495e7f90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c1edb4c8d4d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f9229d4d54c0a" /><Relationship Type="http://schemas.openxmlformats.org/officeDocument/2006/relationships/notesMaster" Target="/ppt/notesMasters/notesMaster1.xml" Id="Ra8fe1f743c7f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fba85c70c24ddb" /><Relationship Type="http://schemas.openxmlformats.org/officeDocument/2006/relationships/notesMaster" Target="/ppt/notesMasters/notesMaster1.xml" Id="R8489417cc8c7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061e08ecb4adf" /><Relationship Type="http://schemas.openxmlformats.org/officeDocument/2006/relationships/notesMaster" Target="/ppt/notesMasters/notesMaster1.xml" Id="Rd9e14b134ff0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8333bc80ad44a7" /><Relationship Type="http://schemas.openxmlformats.org/officeDocument/2006/relationships/notesMaster" Target="/ppt/notesMasters/notesMaster1.xml" Id="R28f9e40a58e0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431851e3b24aa6" /><Relationship Type="http://schemas.openxmlformats.org/officeDocument/2006/relationships/notesMaster" Target="/ppt/notesMasters/notesMaster1.xml" Id="R2d1feededadf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0f5fb9dd0451f" /><Relationship Type="http://schemas.openxmlformats.org/officeDocument/2006/relationships/notesMaster" Target="/ppt/notesMasters/notesMaster1.xml" Id="Re61b294b862b4a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0715210f864a5d" /><Relationship Type="http://schemas.openxmlformats.org/officeDocument/2006/relationships/notesMaster" Target="/ppt/notesMasters/notesMaster1.xml" Id="R92a6b52a39964f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632be616a4f27" /><Relationship Type="http://schemas.openxmlformats.org/officeDocument/2006/relationships/notesMaster" Target="/ppt/notesMasters/notesMaster1.xml" Id="R280bef332fdf45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85d5864bb4534" /><Relationship Type="http://schemas.openxmlformats.org/officeDocument/2006/relationships/notesMaster" Target="/ppt/notesMasters/notesMaster1.xml" Id="Rd53398b16e8b47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a99ef94d984c39" /><Relationship Type="http://schemas.openxmlformats.org/officeDocument/2006/relationships/notesMaster" Target="/ppt/notesMasters/notesMaster1.xml" Id="Ra8c47c760e4541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 §§2–4; design/smart-office-hld.md §§2–3; poc/smart-office-poc-selection.md §4; projects/smart-office-phases-and-milestones.md; projects/smart-office-team-cost-estimate.md. Image is AI-generated illustrative art, not a photograph of the client's office. Proposal status: architecture and PoC selection are approved documents; no PoC implementation evidence exists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 §§2–4, 6, 8–9; design/smart-office-hld.md §§12, 15. The listed technical checks are acceptance goals, not observed PoC results. Business outcome targets beyond baseline measures require client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 §§3–8; design/smart-office-hld.md §§3–5, 10, 15. Notification delivery has an accepted at-least-once limit; avoid promising exactly-once external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design/smart-office-hld.md §§2–4, 7–12. Azure is proposed, pending client ratification N-01. Database may be PostgreSQL or Azure SQL. Notification intent is unique; external delivery is at-least-once. HLD Q-01, Q-07–Q-09 affect final sizing and recovery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poc/smart-office-poc-selection.md §§2–6; context/smart-office-context.md C-01, C-03, C-04; design/smart-office-hld.md §17. Selected functionalities C1–C3 are approved. Tests/results are planned, not yet achieved.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poc/smart-office-poc-selection.md status and §§4–8; projects/smart-office-phases-and-milestones.md W10 gate; context/smart-office-context.md C-05–C-07; design/smart-office-hld.md §§8, 11–12. No implementation code or PoC test results were present in the repository at authoring time. Therefore this slide states planned results rather than claims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 NFR-10–NFR-13, C-05–C-07; design/smart-office-hld.md §§8, 11–12; projects/smart-office-phases-and-milestones.md Agentic SDLC assessment. Approved tools only; least-privilege credentials, no secrets/PII in prompts, retained scan/review evidence, and human production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projects/smart-office-phases-and-milestones.md six-month timeline and role matrix. Phase 0=32 PD; phases 1–3=119 PD; phases 4–5=215 PD; phase 6=70 PD. Phases 5 and 6 overlap, so the horizontal sequence is a planning summary, not a strictly sequential Gantt. Client inputs are due for Q-01/Q-04/Q-07–Q-09/Q-11 and N-01.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projects/smart-office-team-cost-estimate.md; projects/smart-office-third-party-cost-estimate.md; https://www.banque-france.fr/en/statistics/rates-and-prices/exchange-rates-daily-parities-2026-09-23. Rate €800/PD is client-directed planning assumption. Azure allowance is USD 1,000–3,000 converted at EUR 1 = USD 1.1411. The priced planning budget is not an all-in ceiling because agent tooling, new Microsoft licenses, check-in vendor, and optional enterprise networking/support are unquoted.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projects/smart-office-risks-and-assumptions.md §§1–4; design/smart-office-hld.md §16; poc/smart-office-poc-selection.md §6; projects/smart-office-phases-and-milestones.md; projects/smart-office-third-party-cost-estimate.md. Latest risk register commit 8673d5f adds owner and gate detail; it does not change the approved HLD, PoC selection, schedule or cost. Azure is a proposed cloud choice requiring ratification. W10 PoC evidence must be reviewed before committing production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e70964482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82c3c3024411f" /><Relationship Type="http://schemas.openxmlformats.org/officeDocument/2006/relationships/slideLayout" Target="/ppt/slideLayouts/slideLayout1.xml" Id="R9afce72c23ca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ce72c23ca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894c69a24ed7" /><Relationship Type="http://schemas.openxmlformats.org/officeDocument/2006/relationships/image" Target="/ppt/media/image.png" Id="Rea5f46afe0db4bef" /><Relationship Type="http://schemas.openxmlformats.org/officeDocument/2006/relationships/notesSlide" Target="/ppt/notesSlides/notesSlide1.xml" Id="R051f1084b6f5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589a85294cfe" /><Relationship Type="http://schemas.openxmlformats.org/officeDocument/2006/relationships/notesSlide" Target="/ppt/notesSlides/notesSlide2.xml" Id="Rede0277a1968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cb4ecdfb5446f" /><Relationship Type="http://schemas.openxmlformats.org/officeDocument/2006/relationships/notesSlide" Target="/ppt/notesSlides/notesSlide3.xml" Id="R479a18e2441849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98f514cb44792" /><Relationship Type="http://schemas.openxmlformats.org/officeDocument/2006/relationships/notesSlide" Target="/ppt/notesSlides/notesSlide4.xml" Id="Rb8b333499ab941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67a0663241fa" /><Relationship Type="http://schemas.openxmlformats.org/officeDocument/2006/relationships/notesSlide" Target="/ppt/notesSlides/notesSlide5.xml" Id="Rac4c6f5776f5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4ab148bd84cb6" /><Relationship Type="http://schemas.openxmlformats.org/officeDocument/2006/relationships/notesSlide" Target="/ppt/notesSlides/notesSlide6.xml" Id="Rb34d3d9f3a1442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5794420f24caf" /><Relationship Type="http://schemas.openxmlformats.org/officeDocument/2006/relationships/notesSlide" Target="/ppt/notesSlides/notesSlide7.xml" Id="R412920e6bbee45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e79e5fcd04215" /><Relationship Type="http://schemas.openxmlformats.org/officeDocument/2006/relationships/notesSlide" Target="/ppt/notesSlides/notesSlide8.xml" Id="R3b951966046c44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7546f749a421b" /><Relationship Type="http://schemas.openxmlformats.org/officeDocument/2006/relationships/notesSlide" Target="/ppt/notesSlides/notesSlide9.xml" Id="R10c193a15e5a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985e7f0fe4d5b" /><Relationship Type="http://schemas.openxmlformats.org/officeDocument/2006/relationships/notesSlide" Target="/ppt/notesSlides/notesSlide10.xml" Id="R5daac18b576740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f46afe0db4bef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0"/>
            <a:ext cx="838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9B72F-FE5A-4645-A14A-A0F28B80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AD857-676A-47A9-BAF8-5D02BE8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9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7251D-01F2-45EA-8F97-F7652BA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D8364-8CFB-47E9-B313-51259FE7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Office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7DAAF-8321-44AD-9981-2574A1EA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324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reliable way to reserve desks and parking, reclaim unused capacity, and manage workplace policies.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F3FDD-78F4-4C19-AF77-D7D66F3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A9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A9A0"/>
                </a:solidFill>
                <a:latin typeface="Arial"/>
                <a:ea typeface="Arial"/>
                <a:cs typeface="Arial"/>
              </a:rPr>
              <a:t>Our 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5431-5077-41C3-87DC-75BA520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4238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10-week evidence-led PoC within a 26-week full delivery program.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58D6-2F60-478F-8308-9B18519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436 person-days  ·  €800 per day</a:t>
            </a:r>
          </a:p>
        </p:txBody>
      </p:sp>
    </p:spTree>
    <p:extLst>
      <p:ext uri="{BB962C8B-B14F-4D97-AF65-F5344CB8AC3E}">
        <p14:creationId xmlns:p14="http://schemas.microsoft.com/office/powerpoint/2010/main" val="449460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49058-0E35-41E8-809B-9B3C04B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342ED-5294-473E-A8DA-F70FB69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challenge and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EE8C-9260-4C3B-9803-63E7896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single office starts the journey; the solution must also work across offices.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FF1C-C9A1-4A47-9112-20A20FE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96870-1611-417A-9A09-D5240CE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73609-7C12-4099-9357-BCA2689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01A48-1CC2-494A-8CA3-51D2B8D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2569A-859C-48E4-BB76-AB3B315C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Find a desk or parking space for a working day and trust that a confirmed booking is theirs.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7F29-4873-46B1-9F11-411A02C0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6D825-21CD-4AD5-B49B-3C8C8EBA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Workplace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92A6B-35D3-4758-AD0F-B415DCC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Recover unused reservations after the local check-in deadline and explain every exception.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665F4-EEDC-4F3D-8B01-88D93DAE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F3266-8026-4FE6-BC25-98767E2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Facilities and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8FF43-71C4-4C58-BAEB-20941E3A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See capacity and no-shows, apply local policy, and support at least 5,000 users without redesign.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451F6-33AD-4AB0-9292-31F7C77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14DA0-CD81-40CE-9E0B-9016501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Success measures for the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EE1B9-41F4-4F19-BE9B-358BB77A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Zero double bookings in race tests. Safe repeat release. Late check-ins flagged. Usage and no-show baselines agreed with the client.</a:t>
            </a:r>
          </a:p>
        </p:txBody>
      </p:sp>
    </p:spTree>
    <p:extLst>
      <p:ext uri="{BB962C8B-B14F-4D97-AF65-F5344CB8AC3E}">
        <p14:creationId xmlns:p14="http://schemas.microsoft.com/office/powerpoint/2010/main" val="881338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25096-141D-469E-87D5-527972D4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BA6F0-0B0B-49E7-9C48-482DED0D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Proposed full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574C-1FED-4819-BBC6-248F789E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One employee journey, supported by administration and clear operating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6DD3-27F2-44C8-8E57-07DA36B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B6EE9-A691-4BCE-A0A6-F587FD3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B48B4-94D9-45AC-8E59-94C2F0E1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2A8C1-FB51-4E74-B708-40EEC95A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B5A4E-3084-4354-910F-C06246FB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79933-4858-48BC-9BDF-41870F7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Available desks and parking for a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E64A6-4532-4CA4-9B35-FAFF99B7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50CC2-F401-45C1-8845-F3C8C09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431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5EBDC-3483-41DA-B2A7-12C73F65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One desk and one parking booking per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0C79B-BDE7-4D2C-AB19-BD8DE093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DA0AB-42E1-4EA2-B7E7-3079C46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431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13941-44BE-4274-A196-5FB89B72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 or approved evidence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7C33D-45D4-4F8C-B9B3-E9935A5D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CA05C-516B-4966-A6E3-F54E6D52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Stay informed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663AA-925F-495E-8591-60227926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Confirmation, reminder and release notice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265DD-7F8F-44BC-B343-162A3B7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2C6A2-040E-4F5C-B73F-A12F56F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WORKPLACE ADMINISTRATION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BC98B-26F5-4705-9ED4-08445B5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Manage resources and office policies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7D2B5-C4D4-43CE-B377-43585AE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Resolve exceptions with a mandatory reason and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16EF6-8229-4F1A-BA87-BE3617C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View bookings, check-ins, releases and no-shows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9FB6D-61C5-468E-B160-C696065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Multi-office rules use each office's local time zone; the same core platform can serve future sites.</a:t>
            </a:r>
          </a:p>
        </p:txBody>
      </p:sp>
    </p:spTree>
    <p:extLst>
      <p:ext uri="{BB962C8B-B14F-4D97-AF65-F5344CB8AC3E}">
        <p14:creationId xmlns:p14="http://schemas.microsoft.com/office/powerpoint/2010/main" val="925289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CC523-3AFC-46F7-92F8-5C63A7D7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86E5F-8A45-4526-9F01-34FDB60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Architecture for full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80F5-1077-4348-A829-F9DF1F0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modular monolith keeps booking transactions consistent and integration boundaries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EDA0E-8A45-4722-AB32-89951A2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F5A9F-F3F7-42C2-972E-7E47F1B9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DBB69-36B4-4FC2-9A2C-78D3AED3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51D63-F004-4534-B1D9-246DA094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0EF3E-2D79-43BB-A89E-BD64088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73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+ admin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5CFC1-113D-42DF-AA78-1C8FE6E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981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Responsive web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6FCD4-DDE4-4BAF-BC13-0959C91F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5A12C-7198-42EF-B914-3BC29EF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Check-in providers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91E4E-1117-4CE2-BC71-A6CF6C65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981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Authenticated ingress; vendor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203C7-8320-47B2-9DD3-654E4C2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4381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4E201-6818-4778-8AEA-AC4288C1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407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Smart Office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F946B-96A0-44D8-BE7D-9C1C47A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76475"/>
            <a:ext cx="4076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 ·  Resource and policy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gateway  ·  Release engine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Notifications  ·  Audit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Office scope  ·  Admin and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F0F41-E3C8-4B90-92F2-3DA4920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F5565-7937-44AE-9D02-58DC8364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43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Relational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8F361-04C4-4EC2-BE05-5838B509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76475"/>
            <a:ext cx="1981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constraints, state and 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3D38B-3522-4670-A064-9C8BB786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67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209EE-28E0-4FA4-A17A-A6FEC6EB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00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Managed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B3165-7EE4-4959-8C4C-474D48A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133850"/>
            <a:ext cx="1981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Retryable check-in 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D5EE8-A13E-435B-84D6-87A11CD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341D5-777F-4397-8D62-EC88B5E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434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52542-7E4E-402B-A9FD-19FBEB3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CB843-D894-45C8-86A4-C24A1F20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1850F-F7F3-4850-890B-4CDCA49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Entra ID validates identity  •  Microsoft Graph sends Teams or email notices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B9217-114A-4184-B165-8DE5DBE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Server-side authorization, minimum data, audit, CI security gates, backups and monitored release jobs</a:t>
            </a:r>
          </a:p>
        </p:txBody>
      </p:sp>
    </p:spTree>
    <p:extLst>
      <p:ext uri="{BB962C8B-B14F-4D97-AF65-F5344CB8AC3E}">
        <p14:creationId xmlns:p14="http://schemas.microsoft.com/office/powerpoint/2010/main" val="2045159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38671-CC2A-4748-840A-555274C7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1E14-82DD-4479-8E41-21A914E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scope and validation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36D25-11A3-4FF2-8BAF-27B6666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Three selected capabilities test the design's highest-risk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B85C3-1AD6-46F8-8498-871F903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17717-7960-4F40-889E-1C0A09A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935E3-87EA-400E-A197-72E6731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E1945-EBAB-4F66-BCE5-29F3706F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C1  Booking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92372-2C3C-4E46-AF5F-5D2F1596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AE711-FEB3-4F67-8FE3-FE7DEC9D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 real database constraint rejects simultaneous resource and employee conflicts.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9B78B-08D7-4AEC-9231-623FB8D5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Proof: repeated two-request races produce one success and one clear rejection.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6745D-D8D0-4ADC-84FF-3417B5C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C2  Automatic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4A5BD-C13F-4AFE-BE11-676BF76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B29C-4BFB-41AC-98BB-B2DE101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1937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Duplicate or late check-in evidence cannot create a second effect or revive a released booking.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DD24B-173A-4679-8038-90C5A06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Proof: repeat sweeps are safe, capacity reappears, and a second simulated adapter is additive.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2025-212F-46D0-AF55-EDD70C7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C3  Notification 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AEDB-DCE4-4E78-8049-2749485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9BF80-638C-4E17-8B48-98AC1E9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1937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 transactional outbox records one intent; a failing channel cannot break the booking or release.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58CC1-4E40-424F-8623-47E1E07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91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Proof: crash and retry tests show the narrow possible duplicate-send window.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E82EC-F78A-4323-8D35-73637F7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PoC integrations use synthetic data and simulated Entra, Graph and check-in sources. Real tenant and hardware integration belong to full delivery.</a:t>
            </a:r>
          </a:p>
        </p:txBody>
      </p:sp>
    </p:spTree>
    <p:extLst>
      <p:ext uri="{BB962C8B-B14F-4D97-AF65-F5344CB8AC3E}">
        <p14:creationId xmlns:p14="http://schemas.microsoft.com/office/powerpoint/2010/main" val="701816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AA312-C3F8-4540-9710-92C352B5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23DB9-5CCD-4A6B-B5B7-D6BE60A6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status and learning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83E98-DBC3-47E2-9A8C-3ED9DEA1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proof plan is approved. Implementation results are still to be generated.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5ABD4-5AB9-4D43-B531-3A41452E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009D-7B6D-466E-BCD5-FCD67B57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0ABB5-984F-47BF-9849-8B33DA14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166AD-4E6C-4A5A-B4DF-357302EA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What is established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A6EB9-1831-4AED-819A-A227632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14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Approved requirements context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Approved full-solution HLD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Approved three-function PoC selection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Defined acceptance evidence and W10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FA41B-87C8-4E84-A093-1861140E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FCB87-8A3F-4D5C-8418-76D6E46E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What W10 must show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C45F9-BDA4-4E0C-BB31-58D107F2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Real database race tests pass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Release and late-event tests pass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Outbox failure behavior is understood</a:t>
            </a:r>
          </a:p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and team accept remaining trade-offs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4E8C0-C281-40C8-9DA4-00F5E85A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Planned agentic PoC 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44D58-74F3-41A4-BACF-D0EAF912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2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Agents prepare bounded changes and test scaffolding; engineers review every change. CI runs security and integration checks. A human accepts PoC evidence.</a:t>
            </a:r>
          </a:p>
        </p:txBody>
      </p:sp>
    </p:spTree>
    <p:extLst>
      <p:ext uri="{BB962C8B-B14F-4D97-AF65-F5344CB8AC3E}">
        <p14:creationId xmlns:p14="http://schemas.microsoft.com/office/powerpoint/2010/main" val="684823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8BF43-97D3-48B8-81A6-5A6A9A9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30546-0E54-4882-A61F-2C9ABDE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Agentic SDLC for full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782E3-6EE9-44BF-A016-550CCE7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Agents do bounded lifecycle work; people keep design, quality and release accountability.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0873E-E6DA-4256-A260-4CADFEA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D7A9B-B751-493A-A6AB-6C2090FE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69C7B-2673-49CA-8F27-E929C8CB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776D5-6CE4-4BD0-A1F4-4A31DB5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47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D8B51-A0FD-4E01-85DE-0BDC3CF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Plan and decide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39FC8-1543-4249-AA10-4F67FAAF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3355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Architect and client owners resolve policy, provider and recovery choices. Agents draft designs and tasks.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6854-17E0-4110-8016-FE4AD054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7E8E7-3821-4583-A43F-112E3FB2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647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FDD89-613A-4336-A634-F2D51308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52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Build and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973B-1677-4C90-A1E5-D6FB5A53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52725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Agents implement scoped changes. Senior engineers review module boundaries, data migrations and authorization.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AB660-AAAD-474D-897F-C685DA4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2E5E7-9123-4F27-A5A1-003572FC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47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B6F51-512D-4742-8828-2068BDC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71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Prove and secure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D8D65-9609-4DB6-B6D1-F130FB46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CI runs domain, real-database concurrency, contract, security and accessibility checks. QA reviews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41B12-BDA2-4360-B03F-4B7BBC9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6B9BE-FC0F-46F6-BBED-F95A8A2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647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91F25-69B4-40BD-AE66-D4C8CACD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91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Release and 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0E0BF-AE20-465F-A550-A414328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91075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Human approval gates production. Operators monitor jobs, restore drills and incidents; agents assist under scoped access.</a:t>
            </a:r>
          </a:p>
        </p:txBody>
      </p:sp>
    </p:spTree>
    <p:extLst>
      <p:ext uri="{BB962C8B-B14F-4D97-AF65-F5344CB8AC3E}">
        <p14:creationId xmlns:p14="http://schemas.microsoft.com/office/powerpoint/2010/main" val="1294123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26B63-7FFD-4DA6-BC5F-0D11021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7181A-16BE-413D-9C19-291CEC3B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Roadmap and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2C8E7-D01B-4BF2-97F2-89DD02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Ten weeks to a PoC decision; 26 weeks to a controlled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E8FD5-5ECE-4E5D-AD95-60F07DB1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360DF-7922-4015-9AD0-874FE30E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7720-931A-41C4-ADBC-37D3C679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20887-2FE7-4FCA-A5C6-AB110873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W1–W2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C7E96-04E3-4356-BA92-23C32630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Setup and decisions</a:t>
            </a:r>
          </a:p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32 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A036F-CEDF-47C0-8CB0-69EE725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E88AA-A171-4CC6-B70D-7ECFFB3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W3–W10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B65D9-47CC-4B00-B39B-3995BC7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733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Selected PoC</a:t>
            </a:r>
          </a:p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119 PD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328FD-7594-4C8A-9F37-473D8315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4D1AD-828C-4BC1-A61C-AE3DC32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4785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W11–W23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4A794-BCDA-4A77-A484-759A307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27336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Production build</a:t>
            </a:r>
          </a:p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215 PD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8337F-7A07-4179-81EA-EA79DFE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2524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C6FDF-D0F6-4039-B9B0-5B9CACF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W21–W26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C519C-9F4D-4E1E-AC75-1F3EE536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Hardening and release</a:t>
            </a:r>
          </a:p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70 PD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C2476-8427-4DCB-AF02-4EBD4EF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807B2-5C78-42E6-81B0-8968432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W10  PoC acceptance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1E835-C557-45DF-88EE-C3FFA14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38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W16  Core 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137DA-88AC-4DD9-A9EA-16313A1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385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W26  Human-approved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096B1-6F4A-440B-B17F-23997E0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2980C-7D41-428F-8080-FB0E4C0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Delivery team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31D14-EFD4-4BE6-9E45-D53BC243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Principal cloud architect, senior-led backend team, frontend, platform, QA, UX, security and delivery lead.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BA0047-D646-4934-B126-CDFE03C3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436 PD total  •  3.4 average full-time equivalents  •  roughly five active contributors at overlap peaks</a:t>
            </a:r>
          </a:p>
        </p:txBody>
      </p:sp>
    </p:spTree>
    <p:extLst>
      <p:ext uri="{BB962C8B-B14F-4D97-AF65-F5344CB8AC3E}">
        <p14:creationId xmlns:p14="http://schemas.microsoft.com/office/powerpoint/2010/main" val="142243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D4675-A5CB-4110-8E06-CC6998F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5860F-8A42-438B-970F-1D04569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Commercial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5DC74-13D6-4028-98ED-4695FAB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Six-month implementation budget based on €800 per person-day.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7E924-4597-451C-8E87-538E3A2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2815-A29A-426E-A37F-68D4AC7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75A6B-94A1-4A8C-BCBF-1BBD277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55906-F143-4600-A2DE-CC50BEA3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1CE61-30DB-4619-B3FB-64C02D2A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240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436 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FF8E-BD8C-4439-A744-F23C6BA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240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€348,800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873BB-0173-4DCA-9C51-26BFDBD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D0738-C739-471A-A5B4-54F48EFE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FEAAD-629F-4DE9-9C20-D3AFFEAC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20% labor reserve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7E9CB-573F-4330-B02A-C0E3FCE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€69,760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5FCFD-F67C-4045-9341-ED06C61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DC1A2-641A-42C5-96E9-61A0962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34827-8991-44F7-9E9A-D08CDCE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27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With reserve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A239C-668E-4BFB-AC3B-7E6388C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527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€418,560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45BE6-CE09-4670-AE27-0B3A7454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EE595-76D9-4AAB-BB09-890A49F5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Azure build infrastructure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EAEFA-40D6-4A54-9CD1-DE7967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allowance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ADC13-BC2A-4BF6-ACAF-07439162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67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€876–€2,629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577F5-92B6-4496-A3FD-1E25AED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AA095-42B5-4DCE-83AE-644B35E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Priced planning budget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A6069-267A-474B-91CD-CDDCC451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15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 with reserve + Azure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AC815-1A40-4494-B90B-E117FE86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815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€419,436–€421,189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D831D-6964-4020-B342-FB03B6D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9B755-6EA2-4E3E-8BC9-83B027B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Third-party costs stay separate from team labor. Azure uses a 23 Sep 2026 planning FX rate; AI tooling, new licenses and the real check-in vendor need quotes.</a:t>
            </a:r>
          </a:p>
        </p:txBody>
      </p:sp>
    </p:spTree>
    <p:extLst>
      <p:ext uri="{BB962C8B-B14F-4D97-AF65-F5344CB8AC3E}">
        <p14:creationId xmlns:p14="http://schemas.microsoft.com/office/powerpoint/2010/main" val="1423857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0BD46-7CE5-4049-BBDF-0271B0B5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2CCC-2A02-4448-A195-2D4C069C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Risks, assumptions and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3F24D-4670-4E27-82E0-FF90BDD1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decisions below turn a sound design into a firm delivery commitment.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9A059-DC12-4E91-AC49-9ABEDE7F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8D19D-26C5-4ACF-9C21-BD2AC17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4378-B895-474D-A98B-DBB5B387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254A8-0404-47E2-AB12-3D7DB31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Usage and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4A285-5724-4A97-B0C2-161744E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confirms peak demand, retention, availability and RTO/RPO before final sizing.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8AE79-5CE2-480F-918A-1CE39FAD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C7065-A16F-4160-AE46-D7AF252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Integration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53FDF-D5A8-4DD3-A4CA-4248B9C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Workplace owner selects the first check-in provider; product owner selects Teams, email or both.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46C10-80C2-4B69-9E84-81194CD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D6FC8-0561-4F4A-AACE-8F60ADCD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Identity and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13CA5-F4ED-4FBA-888E-CC03D6F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Identity owner decides leaver/role changes. Workplace owner confirms same-day rebooking and cancellation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30B5C-205A-4843-80D4-67ADE2B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934A3-B475-424C-95E1-E2EDBFA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Delivery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AACB6-3972-4D56-9749-AC2B29C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confirms approved agent tools, scoped access and the Entra sandbox for production integration.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948D7-D382-46A2-9F17-5C5FDB0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E4835-CFBA-493C-A4F5-1B22B3A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Recommended 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E778C-E200-4404-8F5A-3D1ECB33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Hold a joint kickoff workshop, name decision owners and authorize Phase 0. Review PoC evidence at W10 before committing the production build.</a:t>
            </a:r>
          </a:p>
        </p:txBody>
      </p:sp>
    </p:spTree>
    <p:extLst>
      <p:ext uri="{BB962C8B-B14F-4D97-AF65-F5344CB8AC3E}">
        <p14:creationId xmlns:p14="http://schemas.microsoft.com/office/powerpoint/2010/main" val="1060929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2026-09-24T13:20:13.5670000Z</dcterms:created>
  <dcterms:modified xsi:type="dcterms:W3CDTF">2026-09-24T13:20:13.5670000Z</dcterms:modified>
</coreProperties>
</file>