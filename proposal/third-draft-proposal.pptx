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ebcf43b2f4f60" /><Relationship Type="http://schemas.openxmlformats.org/officeDocument/2006/relationships/extended-properties" Target="/docProps/app.xml" Id="R4a57cca9fc6742cc" /><Relationship Type="http://schemas.openxmlformats.org/officeDocument/2006/relationships/officeDocument" Target="/ppt/presentation.xml" Id="R0a025b27317146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bfd49b5c72488e"/>
  </p:sldMasterIdLst>
  <p:notesMasterIdLst>
    <p:notesMasterId xmlns:r="http://schemas.openxmlformats.org/officeDocument/2006/relationships" r:id="R0b6990559f01483e"/>
  </p:notesMasterIdLst>
  <p:sldIdLst>
    <p:sldId xmlns:r="http://schemas.openxmlformats.org/officeDocument/2006/relationships" id="256" r:id="R2cc1b25c143342a1"/>
    <p:sldId xmlns:r="http://schemas.openxmlformats.org/officeDocument/2006/relationships" id="257" r:id="Rf028be2de41a4b44"/>
    <p:sldId xmlns:r="http://schemas.openxmlformats.org/officeDocument/2006/relationships" id="258" r:id="R6f354cef333349cf"/>
    <p:sldId xmlns:r="http://schemas.openxmlformats.org/officeDocument/2006/relationships" id="259" r:id="Re5e24920429d4748"/>
    <p:sldId xmlns:r="http://schemas.openxmlformats.org/officeDocument/2006/relationships" id="260" r:id="R66a752f3c0cc48bc"/>
    <p:sldId xmlns:r="http://schemas.openxmlformats.org/officeDocument/2006/relationships" id="261" r:id="R11fbff8ab64f4575"/>
    <p:sldId xmlns:r="http://schemas.openxmlformats.org/officeDocument/2006/relationships" id="262" r:id="R91b44c541aba4fa3"/>
    <p:sldId xmlns:r="http://schemas.openxmlformats.org/officeDocument/2006/relationships" id="263" r:id="Re3e1e75c748e4b0c"/>
    <p:sldId xmlns:r="http://schemas.openxmlformats.org/officeDocument/2006/relationships" id="264" r:id="R2d55260b4ce04c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37b51c9eae47ac" /><Relationship Type="http://schemas.openxmlformats.org/officeDocument/2006/relationships/slideMaster" Target="/ppt/slideMasters/slideMaster1.xml" Id="R46bfd49b5c72488e" /><Relationship Type="http://schemas.openxmlformats.org/officeDocument/2006/relationships/notesMaster" Target="/ppt/notesMasters/notesMaster1.xml" Id="R0b6990559f01483e" /><Relationship Type="http://schemas.openxmlformats.org/officeDocument/2006/relationships/presProps" Target="/ppt/presProps.xml" Id="R354f9292cc074537" /><Relationship Type="http://schemas.openxmlformats.org/officeDocument/2006/relationships/tableStyles" Target="/ppt/tableStyles.xml" Id="R34d7552274ed4a19" /><Relationship Type="http://schemas.openxmlformats.org/officeDocument/2006/relationships/slide" Target="/ppt/slides/slide1.xml" Id="R2cc1b25c143342a1" /><Relationship Type="http://schemas.openxmlformats.org/officeDocument/2006/relationships/slide" Target="/ppt/slides/slide2.xml" Id="Rf028be2de41a4b44" /><Relationship Type="http://schemas.openxmlformats.org/officeDocument/2006/relationships/slide" Target="/ppt/slides/slide3.xml" Id="R6f354cef333349cf" /><Relationship Type="http://schemas.openxmlformats.org/officeDocument/2006/relationships/slide" Target="/ppt/slides/slide4.xml" Id="Re5e24920429d4748" /><Relationship Type="http://schemas.openxmlformats.org/officeDocument/2006/relationships/slide" Target="/ppt/slides/slide5.xml" Id="R66a752f3c0cc48bc" /><Relationship Type="http://schemas.openxmlformats.org/officeDocument/2006/relationships/slide" Target="/ppt/slides/slide6.xml" Id="R11fbff8ab64f4575" /><Relationship Type="http://schemas.openxmlformats.org/officeDocument/2006/relationships/slide" Target="/ppt/slides/slide7.xml" Id="R91b44c541aba4fa3" /><Relationship Type="http://schemas.openxmlformats.org/officeDocument/2006/relationships/slide" Target="/ppt/slides/slide8.xml" Id="Re3e1e75c748e4b0c" /><Relationship Type="http://schemas.openxmlformats.org/officeDocument/2006/relationships/slide" Target="/ppt/slides/slide9.xml" Id="R2d55260b4ce04c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62cdf396c74c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a360ad1a714da6" /><Relationship Type="http://schemas.openxmlformats.org/officeDocument/2006/relationships/notesMaster" Target="/ppt/notesMasters/notesMaster1.xml" Id="Rea984b5713b146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f154549687408d" /><Relationship Type="http://schemas.openxmlformats.org/officeDocument/2006/relationships/notesMaster" Target="/ppt/notesMasters/notesMaster1.xml" Id="R12bdf399bc454a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84831efc8d46e8" /><Relationship Type="http://schemas.openxmlformats.org/officeDocument/2006/relationships/notesMaster" Target="/ppt/notesMasters/notesMaster1.xml" Id="Rd357a7030bf94c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ae8e8d42aa453f" /><Relationship Type="http://schemas.openxmlformats.org/officeDocument/2006/relationships/notesMaster" Target="/ppt/notesMasters/notesMaster1.xml" Id="Rc8720f32e7824c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8ff4c6d72d4a02" /><Relationship Type="http://schemas.openxmlformats.org/officeDocument/2006/relationships/notesMaster" Target="/ppt/notesMasters/notesMaster1.xml" Id="Ra2da38ae475e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f69a5c2e354db9" /><Relationship Type="http://schemas.openxmlformats.org/officeDocument/2006/relationships/notesMaster" Target="/ppt/notesMasters/notesMaster1.xml" Id="R8c78e8db22614c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213ccb9c91430b" /><Relationship Type="http://schemas.openxmlformats.org/officeDocument/2006/relationships/notesMaster" Target="/ppt/notesMasters/notesMaster1.xml" Id="R0e04c0fb0e0c40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b13c329a074af4" /><Relationship Type="http://schemas.openxmlformats.org/officeDocument/2006/relationships/notesMaster" Target="/ppt/notesMasters/notesMaster1.xml" Id="Rf624c97ff56247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f302b2151f4a99" /><Relationship Type="http://schemas.openxmlformats.org/officeDocument/2006/relationships/notesMaster" Target="/ppt/notesMasters/notesMaster1.xml" Id="R5a016f1bea5248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context/smart-office-context.md; design/smart-office-hld.md; poc/smart-office-poc-selection.md. Image is AI-generated illustrative art. This slide describes the proposed user experience and intended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context/smart-office-context.md, especially initial scale and workplace problems; review/findings-1.txt gap 4. All three numerical targets are proposal assumptions, not measured outcomes. Confirm baseline period, desk/parking denominator and pilot cohort with the client before contract acceptance.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design/smart-office-hld.md §§2, 3, 5, 10 and 15; context/smart-office-context.md. The slide summarizes the target solution: employee availability and booking, arrival evidence, no-show release, local policies, administration, reporting, multi-office scope, access control and audit. It does not claim these are all implemented in the current PoC.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design/smart-office-hld.md. Azure, PostgreSQL versus Azure SQL, check-in provider and notification channel remain client decisions. The boxes show target architecture rather than current implementation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poc/smart-office-poc-selection.md; design/smart-office-hld.md. The PoC scope uses synthetic data and simulated identity, notification and check-in provider boundaries; real tenant and physical provider integration are full-delivery decisions. This slide describes intended scope and validation goals, not implementation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agentic-workflow/protocols/lifecycle.md; bid/agentic_sdlc_proposal_team_brief.md; design/smart-office-hld.md. This combines the present delivery approach with the proposed full-delivery lifecycle. AI assistance supports bounded work while named people retain planning, review, acceptance and operating accountability. No productivity uplift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review/findings-1.txt; projects/smart-office-risks-and-assumptions.md; design/smart-office-hld.md; bid/client-inputs-and-dependencies.md. Release and notification evidence and vendor costs require confirmation before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projects/smart-office-phases-and-milestones.md; projects/smart-office-team-cost-estimate.md. Phase 5 overlaps phase 6. W1-W10 total is 151 PD and €120,800. W11-W26 total is 285 PD and €228,000.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projects/smart-office-team-cost-estimate.md; projects/smart-office-third-party-cost-estimate.md. The 436-PD delivery baseline is €348,800 at €800/PD. The €418,560 team budget is a broader planning envelope that also covers delivery uncertainty. Azure is USD 1,000-3,000 translated at 23 Sep 2026 Banque de France reference EUR 1 = USD 1.1411. Excludes tax. Unquoted third-party costs are outside the priced-items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2c2cc918b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5cbd7cda5b4ab3" /><Relationship Type="http://schemas.openxmlformats.org/officeDocument/2006/relationships/slideLayout" Target="/ppt/slideLayouts/slideLayout1.xml" Id="Rd398a2b328ae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98a2b328ae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0a7965640426c" /><Relationship Type="http://schemas.openxmlformats.org/officeDocument/2006/relationships/image" Target="/ppt/media/image.png" Id="R94aa24d1927c4199" /><Relationship Type="http://schemas.openxmlformats.org/officeDocument/2006/relationships/notesSlide" Target="/ppt/notesSlides/notesSlide1.xml" Id="R332efd8fab444d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485ef772b4616" /><Relationship Type="http://schemas.openxmlformats.org/officeDocument/2006/relationships/notesSlide" Target="/ppt/notesSlides/notesSlide2.xml" Id="Rcd289a85762344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ad55a49914942" /><Relationship Type="http://schemas.openxmlformats.org/officeDocument/2006/relationships/notesSlide" Target="/ppt/notesSlides/notesSlide3.xml" Id="Re71224ea08394b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d02f8ea224b59" /><Relationship Type="http://schemas.openxmlformats.org/officeDocument/2006/relationships/notesSlide" Target="/ppt/notesSlides/notesSlide4.xml" Id="R77ca305e11f34a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3457f9ba647f9" /><Relationship Type="http://schemas.openxmlformats.org/officeDocument/2006/relationships/notesSlide" Target="/ppt/notesSlides/notesSlide5.xml" Id="R039a0bc0bff54d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42fa7dd0a4a5a" /><Relationship Type="http://schemas.openxmlformats.org/officeDocument/2006/relationships/notesSlide" Target="/ppt/notesSlides/notesSlide6.xml" Id="Rb8bfa1face4f4c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e8f91f9064062" /><Relationship Type="http://schemas.openxmlformats.org/officeDocument/2006/relationships/notesSlide" Target="/ppt/notesSlides/notesSlide7.xml" Id="Rdfbd7c54420041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60f4314fb4d33" /><Relationship Type="http://schemas.openxmlformats.org/officeDocument/2006/relationships/notesSlide" Target="/ppt/notesSlides/notesSlide8.xml" Id="R9934f2178e4f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bcf5279fb42ef" /><Relationship Type="http://schemas.openxmlformats.org/officeDocument/2006/relationships/notesSlide" Target="/ppt/notesSlides/notesSlide9.xml" Id="R35f1ae845d8943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a24d1927c4199"/>
          <a:srcRect xmlns:a="http://schemas.openxmlformats.org/drawingml/2006/main" l="15607" t="0" r="156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0"/>
            <a:ext cx="838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0D6CB-8E99-4B76-8460-9211BBB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572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E9454-5DB0-4975-8B9D-6BE21DC8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9A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A8FBE-B7E6-4929-9D13-DDF10205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57372-2B49-4434-84E5-7B888B47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Office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1A99D-92A7-4F89-8A1B-DA026EC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4591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way to plan office days and make better use of shared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1F41A-0B77-4287-929E-3297EF40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7A9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7A9A0"/>
                </a:solidFill>
                <a:latin typeface="Arial"/>
                <a:ea typeface="Arial"/>
                <a:cs typeface="Arial"/>
              </a:rPr>
              <a:t>A better office 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51299-BD83-40FA-9056-FF5EA105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Employees can find and reserve the right desk or parking space before they arrive.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0E3E6-6544-43EC-827B-8B3B5AE5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985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Workplace teams can return unused bookings to colleagues and see how the office is used.</a:t>
            </a:r>
          </a:p>
        </p:txBody>
      </p:sp>
    </p:spTree>
    <p:extLst>
      <p:ext uri="{BB962C8B-B14F-4D97-AF65-F5344CB8AC3E}">
        <p14:creationId xmlns:p14="http://schemas.microsoft.com/office/powerpoint/2010/main" val="2142615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1ECA6-3900-445F-B4FF-FED40BB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AC7F6-1A4D-4DB7-BB08-CED2664B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challenge and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6F1EC-3475-4B06-97EF-3EE40DF3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Initial office: about 200 employees. Proposed targets need client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75E6C-EAEF-48AF-9C9A-BCAA36F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2042F-1950-4D32-9E61-CBEA73E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3B09E-BEB4-4A8D-9D96-FDF7FFE3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3C09D-DA49-4390-AC6E-5B78B267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Unused bookings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97B4A-5097-496B-ADDE-7418882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6212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booked resources unused after deadline. Proposed goal: 20% fewer unclaimed desk and parking days by month 3 of pilot.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3B005-D848-48A1-AAC7-4798217E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9807B-63D0-43A8-A906-A14386FE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Booking 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68C88-14AB-45E1-9226-77DF4BCA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median time from search to confirmation. Proposed goal: 60 seconds or less for a standard reservation.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A0C5E5-0CFF-4843-BB02-4F629932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BC867-C815-4EF6-8822-8806E4D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Operational effort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C9653-84E4-4DEE-8293-A2D39C4F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0047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Baseline: manual time spent resolving no-shows and conflicts. Proposed goal: 25% less weekly handling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9AE904-4FBC-4899-9E85-9BFF02C9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A46B9-59BB-4EBE-849F-8B8F7727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2F202-519A-4B83-9752-07853A99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620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Compare booking, check-in and release logs with a four-week baseline; time representative user tasks; record facilities effort weekly.</a:t>
            </a:r>
          </a:p>
        </p:txBody>
      </p:sp>
    </p:spTree>
    <p:extLst>
      <p:ext uri="{BB962C8B-B14F-4D97-AF65-F5344CB8AC3E}">
        <p14:creationId xmlns:p14="http://schemas.microsoft.com/office/powerpoint/2010/main" val="1138907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2355E-C118-4FBC-A9EE-3C0EC9F3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0F002-7B58-4117-BBEC-AF240233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Proposed full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DCAB6-B3A2-4003-B854-10C30240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smoother office day for employees, with clearer control of space for workplace teams.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46DF9-8F1D-4D08-9A7A-A7AE74B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F410C-2B78-48CA-9693-A260D034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52E22-B4BC-4EB1-8362-87BA4F0B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62F43-20AF-4B24-8D9F-04936EA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B9C03-4014-4561-B7EB-A3111AD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Plan the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7A673-190E-4DA6-B2D1-B965AC2D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9669E-282A-4B33-9F4A-96BE7C1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2385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Employees see available desks and parking, make or cancel a reservation, and receive a clear confirmation.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6298A-C1E9-48CA-AEA5-A7D4E7B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478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829BF-4D59-45E3-A5C9-CF78A6F3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526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Make space 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61898-BBA6-4812-B900-7372D472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146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173D5-1C2C-41A1-92E1-E926D278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32385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Arrival check-in confirms use. If nobody arrives by the local deadline, the space returns to availability.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459A8-7BE3-4F1F-881C-C3092218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49DCB-92C9-4734-BB0A-F222CD2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Run with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F8136-C200-47A5-8361-98612D9B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F12BC7-C3FC-4A00-A008-5C28D77D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32385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Workplace teams set local rules, handle exceptions and see capacity, usage and no-shows.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CBAEE-6E55-479B-80A8-84A3053A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AF113-D40E-49FF-8B57-B09D006B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Built for more offices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B8D4A-FB5A-4849-9FF9-CB959B8B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29225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Each office can use its own time zone and policies while employees enjoy one consistent service, with access and key actions controlled.</a:t>
            </a:r>
          </a:p>
        </p:txBody>
      </p:sp>
    </p:spTree>
    <p:extLst>
      <p:ext uri="{BB962C8B-B14F-4D97-AF65-F5344CB8AC3E}">
        <p14:creationId xmlns:p14="http://schemas.microsoft.com/office/powerpoint/2010/main" val="103423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D67CE2-B6E3-4587-8B7E-B99EFBCA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11944-5480-4BBF-9CD9-564ABBB8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Architecture for full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13FFE-A38A-4E2C-A66F-4454F23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A modular monolith protects booking consistency and keeps providers replaceable.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C90E5-1A68-457F-B382-E96FA2C4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3CB3B-6D8B-4B51-82A5-374A7A96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D1850-9641-4D82-B788-B34B370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55E74-B147-4D2C-8242-458AA46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4E73E-FD61-4CB7-9A44-D95E59D6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73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Employee + admin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4CC91-CE33-469C-AA99-58729118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Responsive web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CADF7-453E-4AC8-98B1-2F9BB1C7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9B600-BA2F-4F4D-9DB1-36D23E5C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Check-in providers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847C9-4F72-4D1C-926E-35A3300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Authenticated ingress and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96A50-94A2-45E4-8303-DB4E5F47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62125"/>
            <a:ext cx="4381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4669C-0F44-4EA8-A978-C67D5267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89547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Smart Office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9884B-A7AA-4712-8CD1-3B58DC1A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76475"/>
            <a:ext cx="40767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Booking and resource policy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Check-in gateway and release engine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Notification outbox and audit</a:t>
            </a:r>
          </a:p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Office scope and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71E1C-2AEC-4FF3-96F1-9E8B7893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64F2A-2E55-4D9C-B01D-D3BB927E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895475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Relational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B6ABA-9121-4542-907A-0BA256E9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276475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Constraints, state and outbox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7C17D-F138-45DE-9E7F-1B035515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19500"/>
            <a:ext cx="228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78969-5B0B-42EE-BCBC-755A95BF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7528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Managed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C9CE8-2CC5-4FD9-880A-7134FDAD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133850"/>
            <a:ext cx="1981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Retryable check-in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20967-2DE4-4EC3-A4B0-886ADE7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288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4D5AD-461A-4B23-8C62-D585BB0A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767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18D1A-A53E-444A-A575-750238DC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07999-DD22-4F3B-A6A5-AE8CF3EC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7672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CC810-3171-4DA0-915B-EC9CD95F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10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Entra ID for identity; Microsoft Graph for Teams or email after client choice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DA51EF-4C99-4724-BE6F-77CC4C5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Server authorization, minimum data, audit, security checks, backups and monitored release jobs</a:t>
            </a:r>
          </a:p>
        </p:txBody>
      </p:sp>
    </p:spTree>
    <p:extLst>
      <p:ext uri="{BB962C8B-B14F-4D97-AF65-F5344CB8AC3E}">
        <p14:creationId xmlns:p14="http://schemas.microsoft.com/office/powerpoint/2010/main" val="1479969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74524E-D4E4-48DD-A915-597C8A23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09D86-5798-4DFA-AE2C-9926ECF7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scope and validation goals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192B9-93CF-4CC2-B387-56D5E06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Three selected capabilities cover the core workplace journey and its main technical risks.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1B723-1EE5-4EF6-8569-86C4737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4BB04-7563-42E9-9E0E-E5EC9C6A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4280F-BD2F-4F1D-AD5B-DB95D63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26FA44-D55E-4F8D-BCCA-2D24223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C1  Booking creation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D80CE-CE43-4B3A-B82F-A0D320EC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376C7-45B4-4C5F-88D6-CD551805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Employees reserve a desk or parking space. Database constraints prevent overlapping resource bookings and daily-limit conflicts.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7D4E0-2475-452F-A2A8-8D91FC2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transaction safety and clear conflict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9272C-DF23-49AD-B4E9-E8175BDC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478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C2  Automatic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C871A-6B61-4CFF-B200-63D9B315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03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13F9E-A959-4DA7-85EF-BB5CCDD9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Arrival evidence comes from the app or a simulated provider. A missed local deadline releases unused capacity for another employee.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FCE53-241E-4EA1-B588-3EAA98A3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862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time-zone policy, duplicate events and safe repeat release.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21E8A-A6D8-4420-8A00-46ED5D8A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C3  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A4743-D986-4BC2-A2F3-D55BC91A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7B99D-08ED-4B40-8511-5417EBAC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323850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Confirmation, reminder and release messages are recorded as durable intents, then delivered through a replaceable channel adapter.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FC7BD-FA68-4509-BDFB-96654939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862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Validates reliable dispatch, retries and channel independence.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CF734-9315-45A8-A46E-9D5745EB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E0906-6BEE-4655-B82A-7BA1F6B1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Demonstration 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DC03C-A0F2-4FA7-A6F6-BA2C7EED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762625"/>
            <a:ext cx="812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Reserve  →  no arrival  →  release  →  availability returns  →  notice queued</a:t>
            </a:r>
          </a:p>
        </p:txBody>
      </p:sp>
    </p:spTree>
    <p:extLst>
      <p:ext uri="{BB962C8B-B14F-4D97-AF65-F5344CB8AC3E}">
        <p14:creationId xmlns:p14="http://schemas.microsoft.com/office/powerpoint/2010/main" val="1331859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A0C30-0378-4E73-AD29-691B434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1E810-D66C-4FBE-AB5D-28F55D9A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How we deliver with AI assistance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EF98B-1260-431C-A973-46C31599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People guide decisions while AI assistants support focused work throughout delivery.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1AFEB-5F9B-4E5F-8AEE-A75F45DF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EDD98-6BEA-4D0D-B49C-1C7CC83F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006E3-C786-4F2D-BE04-6D76716E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FA7B8-DE0D-4C6E-89C7-2BBBD490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8E311-856E-4A35-9A74-B7234528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5260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Understand and agree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175004-B07C-45E5-B801-BA088992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81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Client owners confirm priorities and office rules. A team lead agrees the plan before work begins.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CD5C8-CA9B-4FA1-B0C4-8047B74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EA23A-1FA1-4582-91CC-F7705B0F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9A3BB-1BAE-4F48-A4FC-6479669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1462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Build and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63B03-43F9-4B9F-B125-944DE20A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14625"/>
            <a:ext cx="681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AI assistants help build features in manageable steps. Engineers review changes and check quality, security and privacy.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61E44-B815-4F9B-86AE-DE3DFBB5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869C3-E452-44FA-90E9-E50CBFC2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011B1-6E42-4EA4-B378-7219E97D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76650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Approve and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3EBF1-CE12-4DA7-AAA5-D6C54CF5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681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The team resolves issues and confirms the agreed goals. The client owner approves the release.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6E973-8F42-411A-9FDB-4F16A917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EBD53-BA0F-426F-8439-18B87D05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37FE97-3CF8-4451-83A6-BD072B9B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638675"/>
            <a:ext cx="2857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Operate and improve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DA550-5904-4CEB-A9AA-82EB1C16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38675"/>
            <a:ext cx="6810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The team monitors the service and responds to defects. Feedback improves the solution and future delivery work.</a:t>
            </a:r>
          </a:p>
        </p:txBody>
      </p:sp>
    </p:spTree>
    <p:extLst>
      <p:ext uri="{BB962C8B-B14F-4D97-AF65-F5344CB8AC3E}">
        <p14:creationId xmlns:p14="http://schemas.microsoft.com/office/powerpoint/2010/main" val="1673612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2D75-30F0-4D01-9E2B-3472975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F70AE-E83C-49D0-8911-6F7851C2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Decisions and delivery dependencies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78F2E-9E37-40E3-88FA-6133CBE7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Client choices and proof of the core journey shape the final scope and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A8646-4D82-483E-9C1E-EBEE0B85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1530A-6653-4E61-BA75-998C7FE8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201C9-0177-4A2B-8B84-207EEBC6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8FE5B-3D83-4F9D-AC85-413E140F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Usage and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1DDFF-B067-4CFA-9911-F58B150C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Confirm baseline demand, no-show rate and target economics for the first 200 employees.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8019A-154F-4737-81CF-8C438971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6FDF3-C61D-4169-A6F4-A0A6AF49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Integration choice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1BB89B-8335-4925-B554-19E57D15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Select first check-in provider and notice channel; obtain vendor and license quotes.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0DC21-0711-4DD3-9227-0489252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8A78B-F269-4B58-A103-F1CB3E75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Service level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FE218-84FF-46A4-8567-25B4AF50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242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Approve cloud, retention, security, peak load and recovery requirements before sizing.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7EC460-0302-4D69-88DA-EA45113C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DD6FC-22AC-4623-B9B8-119D39B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PoC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070D4-E328-48BA-B5A6-D780A1C2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the release and outbox work; demonstrate the full no-show journey and record results.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96E827-F2D8-458F-A66B-F768CBE9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3447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87E45-4819-41BF-9302-3E687A60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B5D67-F297-4CAC-8A25-31CDB494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Roadmap and 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1CA96-07BE-4FA4-A6D4-5653A590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Each gate releases value and limits commitment before the next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A98B4-E2B9-4AB1-9C80-F8DC89A0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96898-0D86-4FB7-BA15-F865F8A0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AF89EF-7515-4764-9946-C760C169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46F3C-C74C-41BE-85C1-38DD80B9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W1–W2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6543F-5C88-43A5-ACD2-30258E94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Decisions and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D5B54-CC6A-42B6-99D5-1F0744E7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32 PD · €25,600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Policy, provider and baseline 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40033-4214-4DA9-9A76-8445A045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EA760-3C6F-42C3-BB59-DC5D4036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192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W3–W10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74C0C-F29F-4ACA-A258-F9B7A2E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Client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4CF3B-C923-4DBD-B3CC-5BFE0568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62275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119 PD · €95,200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Complete C1–C3 proof and client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861F8-E404-40CB-BAD4-F296732C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3DFD8-AF74-4B5C-9F9D-8E55608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192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W11–W23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F16B0-10CD-49DC-B13C-BA9B6B67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38375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Production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31A90-0794-40ED-A8DD-7CA4EB50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252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215 PD · €172,000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Identity, admin and integrations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2149E3-4486-4173-8CFF-1784ED73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5AE90-CE86-4DCE-8849-B750D8EE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19275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W21–W26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9FFB07-058C-4006-9AED-998E5831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228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Release and handover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E7560-81FF-49D9-8A31-4A0FFAB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62275"/>
            <a:ext cx="228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70 PD · €56,000</a:t>
            </a:r>
          </a:p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Load, recovery and adoption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502DAB-E721-4BF8-B85E-062802E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24350"/>
            <a:ext cx="2143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A8F46F-87A5-4337-B30B-C551D71E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W10 continuation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5692A-8D62-4BAA-AEF5-BA163B21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Proceed after three-function evidence, agreed metrics and integration quotes; reprice the remaining 285 PD if scope changes.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FE797-2D08-43CC-8B98-90F8A5E3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20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Team: principal cloud architect; senior-led backend; senior frontend, platform, QA, UX, security and delivery lead. Client owners join decisions and acceptance.</a:t>
            </a:r>
          </a:p>
        </p:txBody>
      </p:sp>
    </p:spTree>
    <p:extLst>
      <p:ext uri="{BB962C8B-B14F-4D97-AF65-F5344CB8AC3E}">
        <p14:creationId xmlns:p14="http://schemas.microsoft.com/office/powerpoint/2010/main" val="18561771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D27B5-AA71-4FA8-A94B-3233303F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994A9-0B58-442D-8A1D-8CE3B75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Commercial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2981E-B422-4D70-985E-C10434EC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 weeks of delivery, with 436 person-days as the effort baseline and €800 per PD as the planning 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D1EB9-965D-450F-9BAD-91F5129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CAE8E-6392-46B8-AF5B-6BDDD027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SMART OFFICE  |  CLIENT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A192C-45C5-4C5D-B342-E2F067DC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1932D-CB5D-482A-826A-9452904A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Team budget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11BAD-F085-42C2-8604-D996FDCA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977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436 PD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32E58-8AFB-4816-A6D7-3F6218A0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9775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€418,560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91629-8763-47CE-92B0-CD61B300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5AAEE-EE87-4D35-B7D4-40721351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Azure third party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C92C3-DBE2-41A0-BE9E-CE525CE8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26-week estimate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53F62-CEDE-4953-9E12-0160992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102B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7"/>
                </a:solidFill>
                <a:latin typeface="Arial"/>
                <a:ea typeface="Arial"/>
                <a:cs typeface="Arial"/>
              </a:rPr>
              <a:t>€876–€2,629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22CD6-3B87-46CC-A200-7C38B850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C9F02-EB34-4BE7-B220-D4266611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Priced items 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C0C35-D7D8-4B5A-9EA0-8C2354D9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Team budget plus Azure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FCCB3-4FC8-46B4-AF95-A4E2DE9A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81425"/>
            <a:ext cx="3590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€419,436–€421,189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38C69-1B50-468E-B58B-99DAD71F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8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DD1009-7718-4E07-BFE7-32E82F3D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0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077"/>
                </a:solidFill>
                <a:latin typeface="Arial"/>
                <a:ea typeface="Arial"/>
                <a:cs typeface="Arial"/>
              </a:rPr>
              <a:t>The team budget is a planning envelope for the 436-PD delivery estimate and related delivery uncertainty.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7F5C8-21A7-4B54-A35F-F6724422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323D"/>
                </a:solidFill>
                <a:latin typeface="Arial"/>
                <a:ea typeface="Arial"/>
                <a:cs typeface="Arial"/>
              </a:rPr>
              <a:t>Other third-party costs require quotes: agent tools, any extra Microsoft licenses, the real check-in vendor and optional enterprise network or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F8802-88B0-4A27-9712-15310C2E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9"/>
                </a:solidFill>
                <a:latin typeface="Arial"/>
                <a:ea typeface="Arial"/>
                <a:cs typeface="Arial"/>
              </a:rPr>
              <a:t>For 200 employees, value depends on verified capacity savings and future office reuse. This range covers priced items only; it is not an all-in ceiling.</a:t>
            </a:r>
          </a:p>
        </p:txBody>
      </p:sp>
    </p:spTree>
    <p:extLst>
      <p:ext uri="{BB962C8B-B14F-4D97-AF65-F5344CB8AC3E}">
        <p14:creationId xmlns:p14="http://schemas.microsoft.com/office/powerpoint/2010/main" val="1541224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2026-09-25T09:32:41.6870000Z</dcterms:created>
  <dcterms:modified xsi:type="dcterms:W3CDTF">2026-09-25T09:32:41.6870000Z</dcterms:modified>
</coreProperties>
</file>